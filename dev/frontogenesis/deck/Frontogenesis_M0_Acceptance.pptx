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199" y="822959"/>
            <a:ext cx="4023360" cy="4023360"/>
          </a:xfrm>
          <a:prstGeom prst="ellipse">
            <a:avLst/>
          </a:prstGeom>
          <a:noFill/>
          <a:ln w="1778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2834639"/>
            <a:ext cx="2743200" cy="2743200"/>
          </a:xfrm>
          <a:prstGeom prst="ellipse">
            <a:avLst/>
          </a:prstGeom>
          <a:noFill/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4389120"/>
            <a:ext cx="1645920" cy="1645920"/>
          </a:xfrm>
          <a:prstGeom prst="ellipse">
            <a:avLst/>
          </a:prstGeom>
          <a:noFill/>
          <a:ln w="17780">
            <a:solidFill>
              <a:srgbClr val="8FB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7680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8FBFD0"/>
                </a:solidFill>
                <a:latin typeface="Calibri"/>
              </a:rPr>
              <a:t>MILESTONE M0  ·  ACCESS AND RECONNAISSANCE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78638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Cambria"/>
              </a:rPr>
              <a:t>Frontogenesis in the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Cambria"/>
              </a:rPr>
              <a:t>LLC4320 California Current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977639"/>
            <a:ext cx="749807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 i="0">
                <a:solidFill>
                  <a:srgbClr val="8FBFD0"/>
                </a:solidFill>
                <a:latin typeface="Calibri"/>
              </a:rPr>
              <a:t>Prove we can read the data, and settle every open empirical question before any physics is written.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892040"/>
            <a:ext cx="7498079" cy="777240"/>
          </a:xfrm>
          <a:prstGeom prst="roundRect">
            <a:avLst>
              <a:gd name="adj" fmla="val 7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512064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M0 complete — all acceptance criteria PASS, two planning claims overturned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603504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2737F"/>
                </a:solidFill>
                <a:latin typeface="Calibri"/>
              </a:rPr>
              <a:t>J. Xavier Prochaska  ·  tile 330, face 10  ·  2026-09-27/29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21295C"/>
                </a:solidFill>
                <a:latin typeface="Cambria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70432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2737F"/>
                </a:solidFill>
                <a:latin typeface="Calibri"/>
              </a:rPr>
              <a:t>Six tasks, three findings worth their own slide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709928"/>
            <a:ext cx="347472" cy="347472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91640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1295C"/>
                </a:solidFill>
                <a:latin typeface="Calibri"/>
              </a:rPr>
              <a:t>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719072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2737F"/>
                </a:solidFill>
                <a:latin typeface="Calibri"/>
              </a:rPr>
              <a:t>A dedicated py3.13 env; dbof from a worktree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240280"/>
            <a:ext cx="347472" cy="347472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221992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1295C"/>
                </a:solidFill>
                <a:latin typeface="Calibri"/>
              </a:rPr>
              <a:t>First contact with the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249424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2737F"/>
                </a:solidFill>
                <a:latin typeface="Calibri"/>
              </a:rPr>
              <a:t>osn_tiles.py; one hour from both OSN stores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770632"/>
            <a:ext cx="347472" cy="347472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752344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1295C"/>
                </a:solidFill>
                <a:latin typeface="Calibri"/>
              </a:rPr>
              <a:t>Five empirical 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779775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2737F"/>
                </a:solidFill>
                <a:latin typeface="Calibri"/>
              </a:rPr>
              <a:t>Land fill, surface W, spacing, rotation, advection scheme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300984"/>
            <a:ext cx="347472" cy="347472"/>
          </a:xfrm>
          <a:prstGeom prst="ellipse">
            <a:avLst/>
          </a:prstGeom>
          <a:solidFill>
            <a:srgbClr val="A850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82696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1295C"/>
                </a:solidFill>
                <a:latin typeface="Calibri"/>
              </a:rPr>
              <a:t>What M0 overturned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310127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2737F"/>
                </a:solidFill>
                <a:latin typeface="Calibri"/>
              </a:rPr>
              <a:t>Two planning claims contradicted by measurement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831335"/>
            <a:ext cx="347472" cy="347472"/>
          </a:xfrm>
          <a:prstGeom prst="ellipse">
            <a:avLst/>
          </a:prstGeom>
          <a:solidFill>
            <a:srgbClr val="A850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1295C"/>
                </a:solidFill>
                <a:latin typeface="Calibri"/>
              </a:rPr>
              <a:t>Numerical diffusion, quantified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840480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2737F"/>
                </a:solidFill>
                <a:latin typeface="Calibri"/>
              </a:rPr>
              <a:t>The leading rival explanation for any slope &lt; 1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4361688"/>
            <a:ext cx="347472" cy="34747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343400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1295C"/>
                </a:solidFill>
                <a:latin typeface="Calibri"/>
              </a:rPr>
              <a:t>Hourly displacement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370832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2737F"/>
                </a:solidFill>
                <a:latin typeface="Calibri"/>
              </a:rPr>
              <a:t>Confirms the semi-Lagrangian choice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4892040"/>
            <a:ext cx="347472" cy="347472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873752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1295C"/>
                </a:solidFill>
                <a:latin typeface="Calibri"/>
              </a:rPr>
              <a:t>tile330_grid.zarr and two hours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901184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2737F"/>
                </a:solidFill>
                <a:latin typeface="Calibri"/>
              </a:rPr>
              <a:t>The static grid store and a two-hour raw product</a:t>
            </a:r>
          </a:p>
        </p:txBody>
      </p:sp>
      <p:sp>
        <p:nvSpPr>
          <p:cNvPr id="26" name="Oval 25"/>
          <p:cNvSpPr/>
          <p:nvPr/>
        </p:nvSpPr>
        <p:spPr>
          <a:xfrm>
            <a:off x="822960" y="5422392"/>
            <a:ext cx="347472" cy="347472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404104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1295C"/>
                </a:solidFill>
                <a:latin typeface="Calibri"/>
              </a:rPr>
              <a:t>QA plot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5431536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2737F"/>
                </a:solidFill>
                <a:latin typeface="Calibri"/>
              </a:rPr>
              <a:t>Stencil rims, ribbon test, tile-edge crop test</a:t>
            </a:r>
          </a:p>
        </p:txBody>
      </p:sp>
      <p:sp>
        <p:nvSpPr>
          <p:cNvPr id="29" name="Oval 28"/>
          <p:cNvSpPr/>
          <p:nvPr/>
        </p:nvSpPr>
        <p:spPr>
          <a:xfrm>
            <a:off x="822960" y="5952744"/>
            <a:ext cx="347472" cy="347472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934456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1295C"/>
                </a:solidFill>
                <a:latin typeface="Calibri"/>
              </a:rPr>
              <a:t>This deck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5961888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2737F"/>
                </a:solidFill>
                <a:latin typeface="Calibri"/>
              </a:rPr>
              <a:t>M0 acceptance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C7293"/>
                </a:solidFill>
                <a:latin typeface="Calibri"/>
              </a:rPr>
              <a:t>TASK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68096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21295C"/>
                </a:solidFill>
                <a:latin typeface="Cambria"/>
              </a:rPr>
              <a:t>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2737F"/>
                </a:solidFill>
                <a:latin typeface="Calibri"/>
              </a:rPr>
              <a:t>A dedicated env, and one pin in the brief that was wrong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5212080" cy="2286000"/>
          </a:xfrm>
          <a:prstGeom prst="roundRect">
            <a:avLst>
              <a:gd name="adj" fmla="val 7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65A82"/>
                </a:solidFill>
                <a:latin typeface="Calibri"/>
              </a:rPr>
              <a:t>ENV `frontogenesis`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46634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0" i="0">
                <a:solidFill>
                  <a:srgbClr val="1B2A33"/>
                </a:solidFill>
                <a:latin typeface="Calibri"/>
              </a:rPr>
              <a:t>Python 3.13.15  ·  xarray 2026.7.0  ·  dask 2026.8.0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0" i="0">
                <a:solidFill>
                  <a:srgbClr val="1B2A33"/>
                </a:solidFill>
                <a:latin typeface="Calibri"/>
              </a:rPr>
              <a:t>zarr 3.4.0  ·  xgcm 0.10.1  ·  scikit-fmm 2025.6.23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0" i="0">
                <a:solidFill>
                  <a:srgbClr val="1B2A33"/>
                </a:solidFill>
                <a:latin typeface="Calibri"/>
              </a:rPr>
              <a:t>s3fs 2026.9.0  ·  torch 2.13.0 (untouched)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0332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2737F"/>
                </a:solidFill>
                <a:latin typeface="Calibri"/>
              </a:rPr>
              <a:t>dbof installed --no-deps from a git worktree; fronts checkout undisturbed.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28800"/>
            <a:ext cx="5212080" cy="2286000"/>
          </a:xfrm>
          <a:prstGeom prst="roundRect">
            <a:avLst>
              <a:gd name="adj" fmla="val 7000"/>
            </a:avLst>
          </a:prstGeom>
          <a:solidFill>
            <a:srgbClr val="FA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92240" y="2084831"/>
            <a:ext cx="384048" cy="384048"/>
          </a:xfrm>
          <a:prstGeom prst="ellipse">
            <a:avLst/>
          </a:prstGeom>
          <a:solidFill>
            <a:srgbClr val="A850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217627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A8501B"/>
                </a:solidFill>
                <a:latin typeface="Calibri"/>
              </a:rPr>
              <a:t>THE BRIEF'S `xgcm&lt;0.10` PIN WAS WRONG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97480"/>
            <a:ext cx="4572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00" b="0" i="0">
                <a:solidFill>
                  <a:srgbClr val="1B2A33"/>
                </a:solidFill>
                <a:latin typeface="Calibri"/>
              </a:rPr>
              <a:t>`set_xgcm_grid` passes `padding='fill'`, which exists only in xgcm &gt;= 0.10 — and dbof's own pyproject requires it. The reason given for the pin was true of xgcm but backwards for dbof.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703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A8501B"/>
                </a:solidFill>
                <a:latin typeface="Calibri"/>
              </a:rPr>
              <a:t>Upgraded to 0.10.1; brief corrected 2026-09-28.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389120"/>
            <a:ext cx="10607040" cy="1371600"/>
          </a:xfrm>
          <a:prstGeom prst="roundRect">
            <a:avLst>
              <a:gd name="adj" fmla="val 7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663440"/>
            <a:ext cx="98755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Python 3.14 was checked and rejected.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8FBFD0"/>
                </a:solidFill>
                <a:latin typeface="Calibri"/>
              </a:rPr>
              <a:t>conda-forge has scikit-fmm for 3.14, but PyPI has no wheel, xgcm 0.9 depends on the unmaintained `future`, and `fronts` drags timm 0.3.2, PyQt6, pyvista and healpy. Not worth debugging for this project.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C7293"/>
                </a:solidFill>
                <a:latin typeface="Calibri"/>
              </a:rPr>
              <a:t>TASK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68096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21295C"/>
                </a:solidFill>
                <a:latin typeface="Cambria"/>
              </a:rPr>
              <a:t>First contact with the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2737F"/>
                </a:solidFill>
                <a:latin typeface="Calibri"/>
              </a:rPr>
              <a:t>One hour, both OSN stores, anonymously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2468880" cy="1143000"/>
          </a:xfrm>
          <a:prstGeom prst="roundRect">
            <a:avLst>
              <a:gd name="adj" fmla="val 7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 i="0">
                <a:solidFill>
                  <a:srgbClr val="065A82"/>
                </a:solidFill>
                <a:latin typeface="Cambria"/>
              </a:rPr>
              <a:t>45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8716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2737F"/>
                </a:solidFill>
                <a:latin typeface="Calibri"/>
              </a:rPr>
              <a:t>grid + two stores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783080"/>
            <a:ext cx="2468880" cy="1143000"/>
          </a:xfrm>
          <a:prstGeom prst="roundRect">
            <a:avLst>
              <a:gd name="adj" fmla="val 7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9659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 i="0">
                <a:solidFill>
                  <a:srgbClr val="065A82"/>
                </a:solidFill>
                <a:latin typeface="Cambria"/>
              </a:rPr>
              <a:t>24.9 MB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48716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2737F"/>
                </a:solidFill>
                <a:latin typeface="Calibri"/>
              </a:rPr>
              <a:t>grid tile in memory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83080"/>
            <a:ext cx="2468880" cy="1143000"/>
          </a:xfrm>
          <a:prstGeom prst="roundRect">
            <a:avLst>
              <a:gd name="adj" fmla="val 7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9659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 i="0">
                <a:solidFill>
                  <a:srgbClr val="065A82"/>
                </a:solidFill>
                <a:latin typeface="Cambria"/>
              </a:rPr>
              <a:t>0.6884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48716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2737F"/>
                </a:solidFill>
                <a:latin typeface="Calibri"/>
              </a:rPr>
              <a:t>ocean fraction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1783080"/>
            <a:ext cx="2468880" cy="1143000"/>
          </a:xfrm>
          <a:prstGeom prst="roundRect">
            <a:avLst>
              <a:gd name="adj" fmla="val 7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19659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 i="0">
                <a:solidFill>
                  <a:srgbClr val="065A82"/>
                </a:solidFill>
                <a:latin typeface="Cambria"/>
              </a:rPr>
              <a:t>1022976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248716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2737F"/>
                </a:solidFill>
                <a:latin typeface="Calibri"/>
              </a:rPr>
              <a:t>OSN iteration at t0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15468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65A82"/>
                </a:solidFill>
                <a:latin typeface="Calibri"/>
              </a:rPr>
              <a:t>WRITTEN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520440"/>
            <a:ext cx="52120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00" b="0" i="0">
                <a:solidFill>
                  <a:srgbClr val="1B2A33"/>
                </a:solidFill>
                <a:latin typeface="Calibri"/>
              </a:rPr>
              <a:t>•   `py/osn_tiles.py` — tile_spec, load_grid, build_xgcm, load_hour, load_wind_hour.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00" b="0" i="0">
                <a:solidFill>
                  <a:srgbClr val="1B2A33"/>
                </a:solidFill>
                <a:latin typeface="Calibri"/>
              </a:rPr>
              <a:t>•   Every pull checks the store's own decoded clock against the requested timestamp and raises on mismatch.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00" b="0" i="0">
                <a:solidFill>
                  <a:srgbClr val="1B2A33"/>
                </a:solidFill>
                <a:latin typeface="Calibri"/>
              </a:rPr>
              <a:t>•   Box lon −127.99..−113.01, lat 26.66..38.27 (planning said 38.20).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15468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65A82"/>
                </a:solidFill>
                <a:latin typeface="Calibri"/>
              </a:rPr>
              <a:t>TRAPS CONFIRMED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3520440"/>
            <a:ext cx="52120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00" b="0" i="0">
                <a:solidFill>
                  <a:srgbClr val="1B2A33"/>
                </a:solidFill>
                <a:latin typeface="Calibri"/>
              </a:rPr>
              <a:t>•   Comodo attrs survive `process_llc4320_grid` on real OSN data — the §2.1 trap does not fire here (index coords keep their attrs).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00" b="0" i="0">
                <a:solidFill>
                  <a:srgbClr val="1B2A33"/>
                </a:solidFill>
                <a:latin typeface="Calibri"/>
              </a:rPr>
              <a:t>•   Both OSN stores are keyed by the same iteration; the timestamp round trip is exact.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00" b="0" i="0">
                <a:solidFill>
                  <a:srgbClr val="1B2A33"/>
                </a:solidFill>
                <a:latin typeface="Calibri"/>
              </a:rPr>
              <a:t>•   `drF = 1.0`, `Z = −0.5` are in the OSN gridfile after all — the brief said they were not.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C7293"/>
                </a:solidFill>
                <a:latin typeface="Calibri"/>
              </a:rPr>
              <a:t>TASK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68096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21295C"/>
                </a:solidFill>
                <a:latin typeface="Cambria"/>
              </a:rPr>
              <a:t>Five empirical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2737F"/>
                </a:solidFill>
                <a:latin typeface="Calibri"/>
              </a:rPr>
              <a:t>Each was an assumption; each is now a number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856231"/>
            <a:ext cx="402336" cy="402336"/>
          </a:xfrm>
          <a:prstGeom prst="ellipse">
            <a:avLst/>
          </a:prstGeom>
          <a:solidFill>
            <a:srgbClr val="A850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7830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21295C"/>
                </a:solidFill>
                <a:latin typeface="Calibri"/>
              </a:rPr>
              <a:t>Land fill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801368"/>
            <a:ext cx="74066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1B2A33"/>
                </a:solidFill>
                <a:latin typeface="Calibri"/>
              </a:rPr>
              <a:t>NaN, not 0 — cell-for-cell equal to hFacC / hFacW / hFacS, 0 mismatches in 518,400 cells.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724912"/>
            <a:ext cx="402336" cy="402336"/>
          </a:xfrm>
          <a:prstGeom prst="ellipse">
            <a:avLst/>
          </a:prstGeom>
          <a:solidFill>
            <a:srgbClr val="A850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651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21295C"/>
                </a:solidFill>
                <a:latin typeface="Calibri"/>
              </a:rPr>
              <a:t>Surface 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670048"/>
            <a:ext cx="74066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1B2A33"/>
                </a:solidFill>
                <a:latin typeface="Calibri"/>
              </a:rPr>
              <a:t>W(k_l=0) = dEta/dt, not ~0. corr 0.9936, slope 1.037.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593591"/>
            <a:ext cx="402336" cy="402336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Q3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520439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21295C"/>
                </a:solidFill>
                <a:latin typeface="Calibri"/>
              </a:rPr>
              <a:t>Grid spacing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538727"/>
            <a:ext cx="74066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1B2A33"/>
                </a:solidFill>
                <a:latin typeface="Calibri"/>
              </a:rPr>
              <a:t>1.71 × 1.85 km at 37N (not 1.8-2.3). Face 10 is rotated 90°: i is meridional, j zonal.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462272"/>
            <a:ext cx="402336" cy="402336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Q4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3891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21295C"/>
                </a:solidFill>
                <a:latin typeface="Calibri"/>
              </a:rPr>
              <a:t>Rotation terms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4407407"/>
            <a:ext cx="74066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1B2A33"/>
                </a:solidFill>
                <a:latin typeface="Calibri"/>
              </a:rPr>
              <a:t>Identically zero — SN = −1, CS = 0 everywhere. Metric term 0.1% median.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5330952"/>
            <a:ext cx="402336" cy="402336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Q5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52578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21295C"/>
                </a:solidFill>
                <a:latin typeface="Calibri"/>
              </a:rPr>
              <a:t>Advection scheme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5276088"/>
            <a:ext cx="74066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1B2A33"/>
                </a:solidFill>
                <a:latin typeface="Calibri"/>
              </a:rPr>
              <a:t>OS7MP (tempAdvScheme = 7), no explicit horizontal diffusion, linear free surface.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17220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1">
                <a:solidFill>
                  <a:srgbClr val="62737F"/>
                </a:solidFill>
                <a:latin typeface="Calibri"/>
              </a:rPr>
              <a:t>Q1 and Q2 contradict the planning doc. Q3 and Q4 confirm it, Q4 more strongly than claimed.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C7293"/>
                </a:solidFill>
                <a:latin typeface="Calibri"/>
              </a:rPr>
              <a:t>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68096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21295C"/>
                </a:solidFill>
                <a:latin typeface="Cambria"/>
              </a:rPr>
              <a:t>What M0 overturned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2737F"/>
                </a:solidFill>
                <a:latin typeface="Calibri"/>
              </a:rPr>
              <a:t>The most valuable output of a reconnaissance milestone</a:t>
            </a:r>
          </a:p>
        </p:txBody>
      </p:sp>
      <p:pic>
        <p:nvPicPr>
          <p:cNvPr id="6" name="Picture 5" descr="m0_fig3_overtur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74519"/>
            <a:ext cx="10607040" cy="31421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5074920"/>
            <a:ext cx="10607040" cy="1188720"/>
          </a:xfrm>
          <a:prstGeom prst="roundRect">
            <a:avLst>
              <a:gd name="adj" fmla="val 7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5349240"/>
            <a:ext cx="98755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Neither breaks the study.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8FBFD0"/>
                </a:solidFill>
                <a:latin typeface="Calibri"/>
              </a:rPr>
              <a:t>Land being NaN makes the halo cheaper, not harder. And the surface budget still follows — from the kinematic condition w = D(eta)/Dt rather than from w = 0, so the conclusion survives even though the sentence does not.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C7293"/>
                </a:solidFill>
                <a:latin typeface="Calibri"/>
              </a:rPr>
              <a:t>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68096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21295C"/>
                </a:solidFill>
                <a:latin typeface="Cambria"/>
              </a:rPr>
              <a:t>Numerical diffusion, quantified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2737F"/>
                </a:solidFill>
                <a:latin typeface="Calibri"/>
              </a:rPr>
              <a:t>The leading rival explanation for any slope below 1</a:t>
            </a:r>
          </a:p>
        </p:txBody>
      </p:sp>
      <p:pic>
        <p:nvPicPr>
          <p:cNvPr id="6" name="Picture 5" descr="m0_fig1_numerical_dif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10607040" cy="39055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806440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 i="0">
                <a:solidFill>
                  <a:srgbClr val="1B2A33"/>
                </a:solidFill>
                <a:latin typeface="Calibri"/>
              </a:rPr>
              <a:t>Planning §2.3 guessed κ ~ 6-60 m²/s and 0.1-1 f. That is the 4dx number, and it holds there — but it does not transfer to 10 km, where the same scheme is an order of magnitude gentler.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1" i="0">
                <a:solidFill>
                  <a:srgbClr val="A8501B"/>
                </a:solidFill>
                <a:latin typeface="Calibri"/>
              </a:rPr>
              <a:t>Consequence: the discriminator in Figure 2b is needed at front scales, not merely prudent.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C7293"/>
                </a:solidFill>
                <a:latin typeface="Calibri"/>
              </a:rPr>
              <a:t>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68096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21295C"/>
                </a:solidFill>
                <a:latin typeface="Cambria"/>
              </a:rPr>
              <a:t>Hourly displacement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2737F"/>
                </a:solidFill>
                <a:latin typeface="Calibri"/>
              </a:rPr>
              <a:t>Why the measured side is semi-Lagrangian</a:t>
            </a:r>
          </a:p>
        </p:txBody>
      </p:sp>
      <p:pic>
        <p:nvPicPr>
          <p:cNvPr id="6" name="Picture 5" descr="m0_fig2_displac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28800"/>
            <a:ext cx="5943600" cy="346327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040880" y="1828800"/>
            <a:ext cx="4343400" cy="3566160"/>
          </a:xfrm>
          <a:prstGeom prst="roundRect">
            <a:avLst>
              <a:gd name="adj" fmla="val 7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214884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65A82"/>
                </a:solidFill>
                <a:latin typeface="Calibri"/>
              </a:rPr>
              <a:t>WHAT THIS SETTLES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2606040"/>
            <a:ext cx="3749039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150" b="0" i="0">
                <a:solidFill>
                  <a:srgbClr val="1B2A33"/>
                </a:solidFill>
                <a:latin typeface="Calibri"/>
              </a:rPr>
              <a:t>•   Planning §5.3 predicted 0.2-0.4 cells typically and &gt;1.5 in the strong-front tail. Measured: 0.37 median, 1.64 at the front p99. Both confirmed.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150" b="0" i="0">
                <a:solidFill>
                  <a:srgbClr val="1B2A33"/>
                </a:solidFill>
                <a:latin typeface="Calibri"/>
              </a:rPr>
              <a:t>•   30% of ocean cells exceed half a cell; 3.4% exceed one. An Eulerian split would cancel two large terms exactly where the signal lives.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150" b="0" i="0">
                <a:solidFill>
                  <a:srgbClr val="1B2A33"/>
                </a:solidFill>
                <a:latin typeface="Calibri"/>
              </a:rPr>
              <a:t>•   `follow(km_per_px=2.3)` is 25% too large for this tile — should be ~1.8 (M4).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62356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2737F"/>
                </a:solidFill>
                <a:latin typeface="Calibri"/>
              </a:rPr>
              <a:t>Speeds at cell centres: median 0.19, p90 0.38, p99 0.64, max 1.74 m/s.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C7293"/>
                </a:solidFill>
                <a:latin typeface="Calibri"/>
              </a:rPr>
              <a:t>TASK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68096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21295C"/>
                </a:solidFill>
                <a:latin typeface="Cambria"/>
              </a:rPr>
              <a:t>tile330_grid.zarr and two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2737F"/>
                </a:solidFill>
                <a:latin typeface="Calibri"/>
              </a:rPr>
              <a:t>The static store everything downstream reuses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5212080" cy="1965960"/>
          </a:xfrm>
          <a:prstGeom prst="roundRect">
            <a:avLst>
              <a:gd name="adj" fmla="val 7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5740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065A82"/>
                </a:solidFill>
                <a:latin typeface="Courier New"/>
              </a:rPr>
              <a:t>tile330_grid.zarr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46634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00" b="0" i="0">
                <a:solidFill>
                  <a:srgbClr val="1B2A33"/>
                </a:solidFill>
                <a:latin typeface="Calibri"/>
              </a:rPr>
              <a:t>1.8 MB on disk (29.1 MB in memory). Twelve §3.1 variables plus hFacW, hFacS and the 0-d drF, Z, Zl. Orientation and measured spacing stored as attrs.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83080"/>
            <a:ext cx="5212080" cy="1965960"/>
          </a:xfrm>
          <a:prstGeom prst="roundRect">
            <a:avLst>
              <a:gd name="adj" fmla="val 7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5740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065A82"/>
                </a:solidFill>
                <a:latin typeface="Courier New"/>
              </a:rPr>
              <a:t>tile330_raw_20120702T00_2h.zarr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46634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00" b="0" i="0">
                <a:solidFill>
                  <a:srgbClr val="1B2A33"/>
                </a:solidFill>
                <a:latin typeface="Calibri"/>
              </a:rPr>
              <a:t>21 MB on disk. Two consecutive hours from both OSN stores — M1's gate 3 needs a midpoint velocity, which one hour cannot give.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77639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65A82"/>
                </a:solidFill>
                <a:latin typeface="Calibri"/>
              </a:rPr>
              <a:t>DECISIONS WORTH KNOWING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89120"/>
            <a:ext cx="106070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00" b="0" i="0">
                <a:solidFill>
                  <a:srgbClr val="1B2A33"/>
                </a:solidFill>
                <a:latin typeface="Calibri"/>
              </a:rPr>
              <a:t>•   The face dim is dropped on disk and kept as a scalar coord, so `expand_dims('face')` restores the layout the dbof operators expect.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00" b="0" i="0">
                <a:solidFill>
                  <a:srgbClr val="1B2A33"/>
                </a:solidFill>
                <a:latin typeface="Calibri"/>
              </a:rPr>
              <a:t>•   One (1, 720, 720) chunk per hour per variable — the append unit for M2's `pull_series`.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00" b="0" i="0">
                <a:solidFill>
                  <a:srgbClr val="1B2A33"/>
                </a:solidFill>
                <a:latin typeface="Calibri"/>
              </a:rPr>
              <a:t>•   `write_grid` asserts SN = −1 and |CS| &lt; 1e-6 before writing the orientation attr, so the string cannot outlive a change of tile.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00" b="0" i="0">
                <a:solidFill>
                  <a:srgbClr val="1B2A33"/>
                </a:solidFill>
                <a:latin typeface="Calibri"/>
              </a:rPr>
              <a:t>•   `data/.gitignore` added: the repo ignores *.nc and *.png but not *.zarr.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C7293"/>
                </a:solidFill>
                <a:latin typeface="Calibri"/>
              </a:rPr>
              <a:t>TASK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68096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21295C"/>
                </a:solidFill>
                <a:latin typeface="Cambria"/>
              </a:rPr>
              <a:t>QA plot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2737F"/>
                </a:solidFill>
                <a:latin typeface="Calibri"/>
              </a:rPr>
              <a:t>Stencil rims, the ribbon test, and the tile-edge crop test</a:t>
            </a:r>
          </a:p>
        </p:txBody>
      </p:sp>
      <p:pic>
        <p:nvPicPr>
          <p:cNvPr id="6" name="Picture 5" descr="m0_qa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37360"/>
            <a:ext cx="7406640" cy="448319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58200" y="1737360"/>
            <a:ext cx="2926080" cy="4206240"/>
          </a:xfrm>
          <a:prstGeom prst="roundRect">
            <a:avLst>
              <a:gd name="adj" fmla="val 7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20116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65A82"/>
                </a:solidFill>
                <a:latin typeface="Calibri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423160"/>
            <a:ext cx="24231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050" b="0" i="0">
                <a:solidFill>
                  <a:srgbClr val="1B2A33"/>
                </a:solidFill>
                <a:latin typeface="Calibri"/>
              </a:rPr>
              <a:t>•   G's NaN rim is exactly 1 cell along the coast; the Jacobian's is 2 — the brief's "~3" was one cell conservative.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050" b="0" i="0">
                <a:solidFill>
                  <a:srgbClr val="1B2A33"/>
                </a:solidFill>
                <a:latin typeface="Calibri"/>
              </a:rPr>
              <a:t>•   No gradient ribbon. Median G rises smoothly over ~10 cells: that is the coastal upwelling front, not an artefact.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050" b="0" i="0">
                <a:solidFill>
                  <a:srgbClr val="1B2A33"/>
                </a:solidFill>
                <a:latin typeface="Calibri"/>
              </a:rPr>
              <a:t>•   A b(0,0) ribbon would be ~1e7× the interior — and the tile's own j = 0 edge, where xgcm pads with 0, shows exactly that.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050" b="0" i="0">
                <a:solidFill>
                  <a:srgbClr val="1B2A33"/>
                </a:solidFill>
                <a:latin typeface="Calibri"/>
              </a:rPr>
              <a:t>•   All four tile edges are invalid and finite, not NaN.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035040"/>
            <a:ext cx="7406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2737F"/>
                </a:solidFill>
                <a:latin typeface="Courier New"/>
              </a:rPr>
              <a:t>figs/m0_qa_tile330_20120702T00.png  ·  py/m0_qa_plot.py, py/m0_qa_checks.py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C7293"/>
                </a:solidFill>
                <a:latin typeface="Calibri"/>
              </a:rPr>
              <a:t>TASK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68096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21295C"/>
                </a:solidFill>
                <a:latin typeface="Cambria"/>
              </a:rPr>
              <a:t>This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2737F"/>
                </a:solidFill>
                <a:latin typeface="Calibri"/>
              </a:rPr>
              <a:t>Reproducible from the logged numbers alone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10607040" cy="1463040"/>
          </a:xfrm>
          <a:prstGeom prst="roundRect">
            <a:avLst>
              <a:gd name="adj" fmla="val 7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103120"/>
            <a:ext cx="98755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B2A33"/>
                </a:solidFill>
                <a:latin typeface="Calibri"/>
              </a:rPr>
              <a:t>Every number in these slides is quoted from the M0 task logs in `frontogenesis_prompts.md`.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62737F"/>
                </a:solidFill>
                <a:latin typeface="Calibri"/>
              </a:rPr>
              <a:t>Nothing is recomputed, and no network or data store is touched — so the deck can be rebuilt anywhere, and it cannot silently drift from the log it summarises.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6616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65A82"/>
                </a:solidFill>
                <a:latin typeface="Calibri"/>
              </a:rPr>
              <a:t>IN `dev/frontogenesis/deck/`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977639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295C"/>
                </a:solidFill>
                <a:latin typeface="Courier New"/>
              </a:rPr>
              <a:t>make_m0_figs.py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995927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2737F"/>
                </a:solidFill>
                <a:latin typeface="Calibri"/>
              </a:rPr>
              <a:t>generates the three deck figures and downscales the QA plot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453127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295C"/>
                </a:solidFill>
                <a:latin typeface="Courier New"/>
              </a:rPr>
              <a:t>build_m0_deck.py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471415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2737F"/>
                </a:solidFill>
                <a:latin typeface="Calibri"/>
              </a:rPr>
              <a:t>builds this .pptx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92861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295C"/>
                </a:solidFill>
                <a:latin typeface="Courier New"/>
              </a:rPr>
              <a:t>figs_m0/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946903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2737F"/>
                </a:solidFill>
                <a:latin typeface="Calibri"/>
              </a:rPr>
              <a:t>the four images used 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40410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295C"/>
                </a:solidFill>
                <a:latin typeface="Courier New"/>
              </a:rPr>
              <a:t>README.md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5422392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2737F"/>
                </a:solidFill>
                <a:latin typeface="Calibri"/>
              </a:rPr>
              <a:t>the work log for this task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03504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2737F"/>
                </a:solidFill>
                <a:latin typeface="Calibri"/>
              </a:rPr>
              <a:t>Requires python-pptx in the frontogenesis env; figures need only matplotlib and PIL.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M0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70432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FBFD0"/>
                </a:solidFill>
                <a:latin typeface="Calibri"/>
              </a:rPr>
              <a:t>Every criterion audited in the task-5 log entry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801368"/>
            <a:ext cx="329184" cy="329184"/>
          </a:xfrm>
          <a:prstGeom prst="ellipse">
            <a:avLst/>
          </a:prstGeom>
          <a:solidFill>
            <a:srgbClr val="2C6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783080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Two consecutive hours load end to end, from both OSN stores, in a reproducible env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368296"/>
            <a:ext cx="329184" cy="329184"/>
          </a:xfrm>
          <a:prstGeom prst="ellipse">
            <a:avLst/>
          </a:prstGeom>
          <a:solidFill>
            <a:srgbClr val="2C6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50008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tile330_grid.zarr written, with hFacW/hFacS and the 0-d drF/Z/Zl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935224"/>
            <a:ext cx="329184" cy="329184"/>
          </a:xfrm>
          <a:prstGeom prst="ellipse">
            <a:avLst/>
          </a:prstGeom>
          <a:solidFill>
            <a:srgbClr val="2C6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16936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All five questions answered with numbers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502151"/>
            <a:ext cx="329184" cy="329184"/>
          </a:xfrm>
          <a:prstGeom prst="ellipse">
            <a:avLst/>
          </a:prstGeom>
          <a:solidFill>
            <a:srgbClr val="2C6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483863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All four §2 traps confirmed against real data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069079"/>
            <a:ext cx="329184" cy="329184"/>
          </a:xfrm>
          <a:prstGeom prst="ellipse">
            <a:avLst/>
          </a:prstGeom>
          <a:solidFill>
            <a:srgbClr val="2C6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050791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QA plot written; stencil rim present, gradient ribbon absent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846320"/>
            <a:ext cx="10607040" cy="1417320"/>
          </a:xfrm>
          <a:prstGeom prst="roundRect">
            <a:avLst>
              <a:gd name="adj" fmla="val 7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5120640"/>
            <a:ext cx="9875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Next: M1 — operators and validation. A hard gate.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8FBFD0"/>
                </a:solidFill>
                <a:latin typeface="Calibri"/>
              </a:rPr>
              <a:t>Its discrete null test must return slope = 1 ± 0.05 before any real data is touched; C-grid interpolation attenuation alone can bias the headline slope 0.7-1.4.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