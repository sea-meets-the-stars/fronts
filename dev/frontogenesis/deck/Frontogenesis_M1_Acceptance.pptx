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199" y="822959"/>
            <a:ext cx="4023360" cy="4023360"/>
          </a:xfrm>
          <a:prstGeom prst="ellipse">
            <a:avLst/>
          </a:prstGeom>
          <a:noFill/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2834639"/>
            <a:ext cx="2743200" cy="2743200"/>
          </a:xfrm>
          <a:prstGeom prst="ellipse">
            <a:avLst/>
          </a:prstGeom>
          <a:noFill/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4389120"/>
            <a:ext cx="1645920" cy="1645920"/>
          </a:xfrm>
          <a:prstGeom prst="ellipse">
            <a:avLst/>
          </a:prstGeom>
          <a:noFill/>
          <a:ln w="17780">
            <a:solidFill>
              <a:srgbClr val="8F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887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8FBFD0"/>
                </a:solidFill>
                <a:latin typeface="Calibri"/>
              </a:rPr>
              <a:t>MILESTONE M1  ·  OPERATORS AND VALIDATION  ·  A HARD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7863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Frontogenesis in the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LLC4320 California 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Operators that are known correct, not assumed correct — and a figure for every methodological choice.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754880"/>
            <a:ext cx="7498079" cy="868680"/>
          </a:xfrm>
          <a:prstGeom prst="roundRect">
            <a:avLst>
              <a:gd name="adj" fmla="val 7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95604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M1 closed 2026-09-30 — all seven criteria PASS; gate V3 at 1.004 / 0.981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4360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J. Xavier Prochaska  ·  tile 330, face 10  ·  2026-09-28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Two one-slide summaries, nine task sessions, the audit, and a glossary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190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Where we started: M0 in one slide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31136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3042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The answer: M1 in one slide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1635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8950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Masking, tile330_masks.nc and V6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4015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74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operators.py and the regression oracle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98678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5993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semilag.py and V5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5720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4515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coarsegrain.py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15721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2303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Gates V1, V2 and V4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742432"/>
            <a:ext cx="457200" cy="45720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815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Gate V3 — the discrete null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1645920"/>
            <a:ext cx="457200" cy="45720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7190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V3b — the finite-volume null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22311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3042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test_nan_finding.py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281635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8950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Decisions applied and the audit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0" y="3401568"/>
            <a:ext cx="457200" cy="457200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474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M1 acceptance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98678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5993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Findings for the writeup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457200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64515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Decisions and open issues</a:t>
            </a:r>
          </a:p>
        </p:txBody>
      </p:sp>
      <p:sp>
        <p:nvSpPr>
          <p:cNvPr id="33" name="Oval 32"/>
          <p:cNvSpPr/>
          <p:nvPr/>
        </p:nvSpPr>
        <p:spPr>
          <a:xfrm>
            <a:off x="6400800" y="5157216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52303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Glossary (two slides)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57424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815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MILESTONE M0  ·  ACCESS AND RECONNAISSANCE  ·  CLOSED 2026-09-28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Where we started: M0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Goal: prove we can read the data and settle every open empirical question before any physics is written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FIVE QUESTIONS, FIVE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Land is NaN, not 0: equal to hFacC / hFacW / hFacS cell for cell, 0 mismatches in 518,400.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W(k_l=0) = dEta/dt, not ~0: corr 0.9936, slope 1.037 against the centred Eta rate.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Spacing 1.71 × 1.85 km at 37N (planning said 1.8-2.3); face 10 is rotated 90°.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Rotation terms identically zero (SN = −1, CS = 0); metric term 0.1% median.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Advection OS7MP (tempAdvScheme = 7), diffKhT = 0, linear free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37360"/>
            <a:ext cx="4617720" cy="260604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87451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28600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1B2A33"/>
                </a:solidFill>
                <a:latin typeface="Courier New"/>
              </a:rPr>
              <a:t>tile330_grid.zarr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 — 1.8 MB; hFacW/hFacS, drF/Z/Zl, orientation attrs.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Two hours, 00:00 and 01:00, from both OSN stores: a 21 MB raw store.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QA plot: NaN rim 1 cell (G) / 2 (Jacobian); no gradient ribbon.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4617720" cy="1280160"/>
          </a:xfrm>
          <a:prstGeom prst="roundRect">
            <a:avLst>
              <a:gd name="adj" fmla="val 7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572000"/>
            <a:ext cx="4206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OVERTURNED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planning §5.5 "land stored as 0" and §2.2 "w vanishes at z = 0". Neither breaks the study.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897880"/>
            <a:ext cx="10652760" cy="640080"/>
          </a:xfrm>
          <a:prstGeom prst="roundRect">
            <a:avLst>
              <a:gd name="adj" fmla="val 7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605332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Five criteria PASS; four §2 traps confirmed. Flag for M1: the Jacobian is 0.80x the flux 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MILESTONE M1  ·  OPERATORS AND VALIDATION  ·  CLOSED 2026-09-30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The answer: M1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Goal: operators that are known correct before any science — a hard gate, not a checklist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065A82"/>
                </a:solidFill>
                <a:latin typeface="Cambria"/>
              </a:rPr>
              <a:t>1.004  /  0.981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V3 gate: slope of DG/Dt on 2F, strain / real LLC velocity (needed 1 ± 0.05)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065A82"/>
                </a:solidFill>
                <a:latin typeface="Cambria"/>
              </a:rPr>
              <a:t>~0.79x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discrete F vs chain-rule F on real front pixels — the change that passed the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7373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828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065A82"/>
                </a:solidFill>
                <a:latin typeface="Cambria"/>
              </a:rPr>
              <a:t>0.975 [0.954, 1.003]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331720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V3b, a flux-form OS7MP-like truth: −0.006 ± 0.025 from V3; attenuation closed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673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5120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First attempt FAIL 0.950 / 0.758 with the chain-rule F; discrete F + a cubic departure velocity → PASS.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b is interpolated onto the departure stencil (order 3), never 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7673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HANDED TO M3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60520"/>
            <a:ext cx="5120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Both forms of F, discrete primary; baseline 0.981 [0.970, 0.994], band 0.954-1.003, no upward correction.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Order 3 (5 a sensitivity); V4 bar 0.28-1.0% of G/h; τ_δ to subfilter_term.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943600"/>
            <a:ext cx="10652760" cy="594360"/>
          </a:xfrm>
          <a:prstGeom prst="roundRect">
            <a:avLst>
              <a:gd name="adj" fmla="val 7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60807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All seven criteria PASS — 84 tests passed, 3 strict xfailed; seven PNGs. M1 closed 2026-09-30.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1  ·  V6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Masking and tile330_masks.nc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Halo = 7 × the measured dxC = 12.57 km; the 100 km cut removes the Gulf, no polygon</a:t>
            </a:r>
          </a:p>
        </p:txBody>
      </p:sp>
      <p:pic>
        <p:nvPicPr>
          <p:cNvPr id="6" name="Picture 5" descr="m1_crop_V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4480560" cy="4354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1783080"/>
            <a:ext cx="5852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518,400 cells → ocean 356,877 → halo 341,960 → offshore ≥ 100 km 273,431 → analysis 262,925 (73.7% of the ocean): one connected component.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Gulf of California is its own ocean component (9,891 cells), max coast distance 73.9 km — 0 cells survive the cut.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The tile-edge rim is finite, not NaN: ~1e6x on the low edges, ~0.5x on the high. edge_cells = 7 covers it (minimum 2).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17 tests. ocean_mask == isfinite(Theta) cell for cell at both hours; both halo_mask defects guarded.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figs/V6_land_halo_tile330.png, panel (a)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2  ·  CRITERION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operators.py and the regression oracle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One shared operator for both sides; the oracle checks the wiring bit for bit</a:t>
            </a:r>
          </a:p>
        </p:txBody>
      </p:sp>
      <p:pic>
        <p:nvPicPr>
          <p:cNvPr id="6" name="Picture 5" descr="m1_fig_ope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120640" cy="29508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84632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interpolated Jacobian is 0.85x the flux-form strain on the analysis mask (M0's 0.80 included the coast). The 0.911x gradb2 ratio is confirmed.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2120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Criterion 7: unfiltered F vs frontogenesis_tendency — max |dF| = 0.0 on all 352,673 finite cells, both hours.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lowpass: a top-hat of half-width L/2; NaN propagates, never renormalised. F is finite on all 262,925 analysis cells at every L.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Planning §2.4 had the strain-term sign wrong: F = −½δG + ½|σ|G cos 2θ, θ from the compressional axis.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21 tests; the dims guard turns the 4-D broadcast into a ValueError before dbof.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3  ·  V5, THE FIGURE LAUREN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semilag.py and V5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Interpolate b (order ≥ 3) onto the departure stencil — never G</a:t>
            </a:r>
          </a:p>
        </p:txBody>
      </p:sp>
      <p:pic>
        <p:nvPicPr>
          <p:cNvPr id="6" name="Picture 5" descr="m1_crop_V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029200" cy="4053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783080"/>
            <a:ext cx="5303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Half-cell shift, 1.5-cell front, bias at the maximum: bilinear G −4.94%, bilinear b −4.99%, cubic b −0.54%, quintic b −0.10% (prediction −5.56%).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The trap: shifting b and calling gradb2 measures DG/Dt − 2F ≈ 0. The stencil is built at the departure point instead.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Local Lagrange, not map_coordinates: a filled NaN leaks 46 / 12 / 3.3% at 1 / 2 / 3 nodes through the spline prefilter.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Real hour: order 1 fabricates +5.2% of G per hour on front pixels. 15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figs/V5_interp_half_cell.png, panel (a)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coarsegrain.py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subfilter term closes the coarse-grained budget — with its divergent part τ_δ</a:t>
            </a:r>
          </a:p>
        </p:txBody>
      </p:sp>
      <p:pic>
        <p:nvPicPr>
          <p:cNvPr id="6" name="Picture 5" descr="m1_fig_coarseg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737360"/>
            <a:ext cx="9875520" cy="31985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Germano holds to 4e-16 for the composite filter; τ is exactly 0 at L = 0 and O(L²) after — it does not become the numerical-diffusion term.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Returned in F units (M3's subfilter field = 2 × term). The flux form without τ_δ overstates it 2.2x on hour 0. 10 tests; task 6's discrete F improved the 900 m residuals to 0.037 / 0.088.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5  ·  CRITERIA 1, 2,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Gates V1, V2 and V4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Two gates pass by a wide margin; V4 is the permanent error bar on every slope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383280" cy="169164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065A82"/>
                </a:solidFill>
                <a:latin typeface="Calibri"/>
              </a:rPr>
              <a:t>V1 — PASS, 0.78%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8 chained hours at ell = 8 dx; the step alone &lt; 0.36%.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169164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470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065A82"/>
                </a:solidFill>
                <a:latin typeface="Calibri"/>
              </a:rPr>
              <a:t>V2 — PASS, 0.077%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585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b_x max; b_y 0.041%; metric alone 0.012%; swapped 87%.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737360"/>
            <a:ext cx="3383280" cy="169164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8470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065A82"/>
                </a:solidFill>
                <a:latin typeface="Calibri"/>
              </a:rPr>
              <a:t>V4 — 0.28 to 1.0%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585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of G per hour, order 3, 1.5- to 1-cell front. Order 5: 0.06%.</a:t>
            </a:r>
          </a:p>
        </p:txBody>
      </p:sp>
      <p:pic>
        <p:nvPicPr>
          <p:cNvPr id="15" name="Picture 14" descr="m1_crop_V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4140798" cy="2834640"/>
          </a:xfrm>
          <a:prstGeom prst="rect">
            <a:avLst/>
          </a:prstGeom>
        </p:spPr>
      </p:pic>
      <p:pic>
        <p:nvPicPr>
          <p:cNvPr id="16" name="Picture 15" descr="m1_fig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611880"/>
            <a:ext cx="5199808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6  ·  THE HARD GATE, CRITERION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Gate V3 — the discrete 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First attempt FAIL 0.950 / 0.758 → PASS 1.004 [0.995, 1.017] / 0.981 [0.970, 0.994]</a:t>
            </a:r>
          </a:p>
        </p:txBody>
      </p:sp>
      <p:pic>
        <p:nvPicPr>
          <p:cNvPr id="6" name="Picture 5" descr="m1_crop_V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4114800" cy="3851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0350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V3 panel (d): LLC, n 26,293, corr 0.982</a:t>
            </a:r>
          </a:p>
        </p:txBody>
      </p:sp>
      <p:pic>
        <p:nvPicPr>
          <p:cNvPr id="8" name="Picture 7" descr="m1_fig_v3_chan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37360"/>
            <a:ext cx="6309360" cy="28704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475488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The chain-rule product fails on the grid by (2/3)(dx/ell)². The consistent F = −Σ (L_k b)[L_k, u·∇] b is now the default (form='discrete'); the departure velocity is cubic.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Both sides of this null see the same centred velocity, so the 0.85x Jacobian attenuation cannot appear here. 70 tests, 0 skipped.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6b  ·  M1-Q2, OPTION (a)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V3b — the finite-volume 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A recorded bias, not a gate: 0.975 [0.954, 1.003] on the real hour, −0.006 ± 0.025 from V3's 0.981</a:t>
            </a:r>
          </a:p>
        </p:txBody>
      </p:sp>
      <p:pic>
        <p:nvPicPr>
          <p:cNvPr id="6" name="Picture 5" descr="m1_crop_V3b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3931920" cy="40021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80644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V3b panel (c): OS7MP-like truth, discrete F</a:t>
            </a:r>
          </a:p>
        </p:txBody>
      </p:sp>
      <p:pic>
        <p:nvPicPr>
          <p:cNvPr id="8" name="Picture 7" descr="m1_fig_v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4198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5943600"/>
            <a:ext cx="6309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fvadvect.py: flux-form C-grid advection with MITgcm face transports; centred, DST3, OS7 and OS7MP-like.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7a  ·  CRITERION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test_nan_finding.py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fronts_from_gradb2 under config D on NaN land: 14 tests, 11 pass, 3 strict xfails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212080" cy="457200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C6E49"/>
                </a:solidFill>
                <a:latin typeface="Calibri"/>
              </a:rPr>
              <a:t>WHAT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A NaN land block: 0 front pixels on NaN; fronts ≥ 10 cells from the coast equal the land-free field pixel for pixel.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Real hour 0: 11,836 front pixels in 7 s, 0 on NaN, 878 (7.4%) inside the halo.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The three threshold modes agree bit for bit; no coastal bias in the window.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12080" cy="4572000"/>
          </a:xfrm>
          <a:prstGeom prst="roundRect">
            <a:avLst>
              <a:gd name="adj" fmla="val 7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WHAT BREAKS  (xfail, strict)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774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thresh_mode 'pool' with the default n_workers=None → TypeError: config D does not run as written.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remove_small_holes fills an enclosed NaN island: 6 front pixels on land.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despur on an empty skeleton → ValueError in skan.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M4 recipe: pass NaN as-is (never fill), explicit n_workers, despur off, then fronts &amp;= isfinite(gradb2).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7  ·  THE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Decisions applied and the M1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M1-Q1..Q8 written into the docs on 2026-09-30; every criterion audited; M1 closed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APPLIED TO THE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Prompt 2: criteria 1, 3, 4, 5, 7 restated; Q&amp;A header.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Prompt 4 (M3) and 6 (M5): both forms of F, the baseline and its bands, order 5 as a sensitivity, Figure 2 at 0.981.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Coding §2.5, §4.3, §4.4, §4.9, §4.10, §6 M1 and M3; planning §2.4 (sign final), §6 tests 1 and 3, §7.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V3b figure: clipped titles and the legend fixed; every number identical.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THE 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Suite: 84 passed, 3 xfailed in 98 s; offline 66 passed, 18 deselected.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Seven PNGs in figs/: five tracked (9be37dc), V3 and V3b untracked and shown; none ignored.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Criteria 1-7 each PASS with the numbers of the next slide; every 'Discharges' line honoured, nothing claimed twice.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Open issues carried to M2-M4: the fronts bugs, prompt 5's tile_find path, the NaN recipe, M3's requirements, the V3b band.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M1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All seven criteria, as audited in the task-7 log entry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673352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4592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V1 Cartesian deformation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0.78% at ell = 8 dx over 8 h  (&lt; 1%)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21991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V2 native-grid metric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b_x max 0.077%, b_y 0.041%  (&lt; 1%)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770632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4320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V3 discrete null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1.004 [0.995, 1.017] strain, 0.981 [0.970, 0.994] llc  (1 ± 0.05); V3b recorded 0.975 [0.954, 1.003]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639312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V4 interpolation bias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recorded: 0.28-1.0% of G per hour at order 3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187952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16052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PNGs V1-V6 (+ V3b)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all seven in figs/ and in git status; V6 shows the edge rim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736592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09159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Tests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84 passed, 3 strict xfailed, incl. test_nan_finding.py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285231"/>
            <a:ext cx="384048" cy="384048"/>
          </a:xfrm>
          <a:prstGeom prst="ellipse">
            <a:avLst/>
          </a:prstGeom>
          <a:solidFill>
            <a:srgbClr val="2C6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57799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Regression oracle  </a:t>
            </a:r>
            <a:r>
              <a:rPr sz="2000" b="0" i="0">
                <a:solidFill>
                  <a:srgbClr val="8FBFD0"/>
                </a:solidFill>
                <a:latin typeface="Calibri"/>
              </a:rPr>
              <a:t>form='chain' bit-for-bit frontogenesis_tendency, max |dF| =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731520"/>
          </a:xfrm>
          <a:prstGeom prst="roundRect">
            <a:avLst>
              <a:gd name="adj" fmla="val 7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98932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M1 closed 2026-09-30.  Next: M2 pulls the 72-hour series; M3 computes the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Findings for the writeup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Five things the discretisation taught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Discrete F.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chain-rule product −(∇b)ᵀ(∇u)(∇b) fails on the grid by (2/3)(dx/ell)²; the consistent form passes V3 and is ~0.79x the chain F on real front pixels — about the size of the effect being measured.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Stencil at the departure point.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Shifting b and differentiating measures the residual DG/Dt − 2F (≈ 0 under pure strain); the departure stencil measures DG/Dt.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The divergent subfilter correction τ_δ.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Without it the flux form leaves 38-44% of the budget unclosed on a divergent flow and overstates the term 2.2x on hour 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V3b closes the 0.85x question.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A flux-form OS7MP-like truth shifts the slope by −0.006 ± 0.025: the Jacobian attenuation is the resolved G's consistent view of the strain, not a bias. Shortfall per width: −2 / −4 / −11% at 2 / 1.5 / 1 dx.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Planning §2.4 sign.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F = −½δG + ½|σ|G cos 2θ with θ from the compressional axis (plus, not minus). Final, M1-Q3.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M1-Q1 ..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Decisions and open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What shapes M3 and M4, and the fronts fixes JXP chose to make on this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SHAPES M3 / M4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Q1: both forms of F; discrete primary, chain as a stated systematic.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Q2 / Q4: Figure 2 at 0.981 with its band; systematic 0.954-1.003; no upward correction.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Q5 / Q6: V1 at 8 dx; V4 bar 0.28-1.0% of G/h at order 3; order 5 as a sensitivity.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Subtract the numerics shortfall first: −2 / −4 / −11% at 2 / 1.5 / 1 dx.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Pass τ_δ to subfilter_term; split the ratio estimator by the sign of 2F.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257800" cy="4754880"/>
          </a:xfrm>
          <a:prstGeom prst="roundRect">
            <a:avLst>
              <a:gd name="adj" fmla="val 7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19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NEXT: fronts FIXES — not yet applied. </a:t>
            </a:r>
            <a:r>
              <a:rPr sz="2000" b="0" i="0">
                <a:solidFill>
                  <a:srgbClr val="A8501B"/>
                </a:solidFill>
                <a:latin typeface="Calibri"/>
              </a:rPr>
              <a:t>Q9: on this frontogenesis branch; JXP tells Lauren.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97480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Q10: n_workers=None → os.cpu_count(); document the __main__ guard.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Q11: fronts &amp;= isfinite(gradb2) after cropping and dilation.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Q12: despur returns early on an empty skeleton.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Q13 / Q14: max_size = min_size − 1; silence the All-NaN warnings.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Q15: prompt 5 → fronts_from_gradb2 + the NaN recipe; two docstrings.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GLOSSARY  ·  1 OF 2  ·  NOTATION AS ON THE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Glossary — the physics and the operators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5276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b, G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buoyancy b = g σ₀/ρ₀ from Theta and Salt (JMD95 at p = 0); G = |∇b|² = b_x² + b_y² is the front strength, from the same gradient that feeds F.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frontogenesis tendency predicted from the velocity field, F = ½ DG/Dt: F = −½δG + ½|σ|G cos 2θ (δ divergence, |σ| strain, θ from the compressional axis).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DG/Dt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measured side: G differenced along a parcel over one hour. The gates fit the slope of DG/Dt on 2F.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Discrete vs chain-rule F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chain: −(∇b)ᵀ(∇u)(∇b), the repo's frontogenesis_tendency (form='chain'). Discrete: −Σ (L_k b)[L_k, u·∇] b, built on the same stencil as G (form='discrete', the default).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Semi-Lagrangian step, departure point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follow the parcel back one hour along u, interpolate b (order 3 = cubic) onto the stencil there, then difference 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lowpass, 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a top-hat filter of half-width L/2 applied to b and u before the budget; NaN propagates, never renormalised.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Subfilter term τ, τ_δ, Germano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τ closes the filtered budget (M3's field = 2 × term); τ_δ is its divergent part; Germano: composite-filter τ = filtered fine τ + the Leonard flux, for any linear filter.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GLOSSARY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Glossary — the grid, the gates and the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5276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LLC4320, face 10, tile 330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1/48° MITgcm run; face 10 is rotated (i meridional, j zonal); tile 330 is the 720 × 720 California Current window.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C-grid, Jacobian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U on west faces, V on south faces, Theta at centres; the Jacobian ∇u interpolated to centres is 0.85x the flux-form strain.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OS7MP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LLC4320's tracer advection (tempAdvScheme = 7): flux-limited, seventh-order, monotonicity-preserving (Daru &amp; Tenaud 2004); its implicit diffusion is the rival.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Halo, tile-edge margin, analysis mask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7 cells (12.57 km) from land; edge_cells = 7 removes the finite tile-edge rim; with the 100 km offshore cut, 262,925 analysis cells.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Front pixels (p90)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cells with G at or above its 90th percentile — where every slope is fitted.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V3 discrete null, V3b finite-volume null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V3: truth advected by our own step; slope must be 1 ± 0.05 (the gate). V3b: truth from flux-form OS7MP-like advection (recorded, not gated).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Slope [lo, hi]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OLS slope of DG/Dt on 2F over front pixels; the brackets are the 32-cell block-bootstrap 2.5-97.5% interval.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Oracle, xfail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repo's frontogenesis_tendency, matched bit for bit by form='chain'; a strict xfail documents a known bug and flips to XPASS when fixed.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TASK 8  ·  EXTENDED BY TASK 9 (M0 / M1 SUMMARIES, GLOSSARY),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6656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1295C"/>
                </a:solidFill>
                <a:latin typeface="Cambria"/>
              </a:rPr>
              <a:t>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Reproducible from the logged numbers alone; nothing below 20 pt; 19 slides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1371600"/>
          </a:xfrm>
          <a:prstGeom prst="roundRect">
            <a:avLst>
              <a:gd name="adj" fmla="val 7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9875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Every number here is quoted from the M1 task logs in frontogenesis_prompts.md and from frontogenesis_prompt_2.md.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Nothing is recomputed and no data store is touched.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IN dev/frontogenesis/deck/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94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ourier New"/>
              </a:rPr>
              <a:t>make_m1_figs.py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813048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five panel crops from ../figs/ and five large-font re-plots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702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ourier New"/>
              </a:rPr>
              <a:t>build_m1_deck.py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88536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builds this .pptx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7457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ourier New"/>
              </a:rPr>
              <a:t>check_m1_deck.py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76402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verifies every run is ≥ 20 pt and the text-box geometry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2212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ourier New"/>
              </a:rPr>
              <a:t>figs_m1/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239512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ten images used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96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7150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work log for this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Rendered with LibreOffice and inspected page by page before hand-over.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