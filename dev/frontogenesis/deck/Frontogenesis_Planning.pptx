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949440" y="640080"/>
            <a:ext cx="4206240" cy="4206240"/>
          </a:xfrm>
          <a:prstGeom prst="ellipse">
            <a:avLst/>
          </a:prstGeom>
          <a:noFill/>
          <a:ln w="19050">
            <a:solidFill>
              <a:srgbClr val="065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2651760"/>
            <a:ext cx="2926080" cy="2926080"/>
          </a:xfrm>
          <a:prstGeom prst="ellipse">
            <a:avLst/>
          </a:prstGeom>
          <a:noFill/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58200" y="4251959"/>
            <a:ext cx="1737360" cy="1737360"/>
          </a:xfrm>
          <a:prstGeom prst="ellipse">
            <a:avLst/>
          </a:prstGeom>
          <a:noFill/>
          <a:ln w="19050">
            <a:solidFill>
              <a:srgbClr val="8F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20"/>
            <a:ext cx="7680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FBFD0"/>
                </a:solidFill>
                <a:latin typeface="Calibri"/>
              </a:rPr>
              <a:t>LLC4320  ·  CALIFORNIA CURRENT  ·  SURFACE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7863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Frontogenesis in the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LLC4320 California Current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8FBFD0"/>
                </a:solidFill>
                <a:latin typeface="Calibri"/>
              </a:rPr>
              <a:t>Comparing measured front strengthening against the frontogenesis rate computed from the model's own velocity and buoyancy fields.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715000"/>
            <a:ext cx="74980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Planning Summary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62737F"/>
                </a:solidFill>
                <a:latin typeface="Calibri"/>
              </a:rPr>
              <a:t>J. Xavier Prochaska  ·  HIINet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1295C"/>
                </a:solidFill>
                <a:latin typeface="Cambria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4358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37F"/>
                </a:solidFill>
                <a:latin typeface="Calibri"/>
              </a:rPr>
              <a:t>Two numbers that should agree — and the reason they will not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1488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402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65A82"/>
                </a:solidFill>
                <a:latin typeface="Calibri"/>
              </a:rPr>
              <a:t>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1B2A33"/>
                </a:solidFill>
                <a:latin typeface="Calibri"/>
              </a:rPr>
              <a:t>How much fronts actually sharpen, hour to hour, following the 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7F"/>
                </a:solidFill>
                <a:latin typeface="Courier New"/>
              </a:rPr>
              <a:t>D G / D t     from consecutive snapshots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214884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24028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C7293"/>
                </a:solidFill>
                <a:latin typeface="Calibri"/>
              </a:rPr>
              <a:t>PREDICTED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80360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1B2A33"/>
                </a:solidFill>
                <a:latin typeface="Calibri"/>
              </a:rPr>
              <a:t>How much the strain field says they should sharpen, instantaneously.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1188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2737F"/>
                </a:solidFill>
                <a:latin typeface="Courier New"/>
              </a:rPr>
              <a:t>2F     from u, v and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26280"/>
            <a:ext cx="10607040" cy="141732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84632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These are not two guesses at one number.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600" b="0" i="0">
                <a:solidFill>
                  <a:srgbClr val="8FBFD0"/>
                </a:solidFill>
                <a:latin typeface="Calibri"/>
              </a:rPr>
              <a:t>They are the two sides of an exact budget — and the residual between them is itself the physical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1295C"/>
                </a:solidFill>
                <a:latin typeface="Cambria"/>
              </a:rPr>
              <a:t>One budget, three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4358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37F"/>
                </a:solidFill>
                <a:latin typeface="Calibri"/>
              </a:rPr>
              <a:t>The surface buoyancy-gradient budget, stated exactly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105156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2140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ourier New"/>
              </a:rPr>
              <a:t>D/Dt ( ½ |grad b|² )  =  F   -   b_z (w_x b_x + w_y b_y)   +   grad b · grad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154680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" y="3429000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19" y="3520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Calibri"/>
              </a:rPr>
              <a:t>KINEMATIC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4114800"/>
            <a:ext cx="2834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B2A33"/>
                </a:solidFill>
                <a:latin typeface="Calibri"/>
              </a:rPr>
              <a:t>Already implemented on the native grid, with correct dxC/dyC metrics and CS/SN rotation.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3154680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34290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9512" y="3520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1C7293"/>
                </a:solidFill>
                <a:latin typeface="Calibri"/>
              </a:rPr>
              <a:t>TILTING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114800"/>
            <a:ext cx="2834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B2A33"/>
                </a:solidFill>
                <a:latin typeface="Calibri"/>
              </a:rPr>
              <a:t>Vanishes identically at the surface: w → 0 there, so w_x and w_y do too.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4424" y="3154680"/>
            <a:ext cx="3383280" cy="1874519"/>
          </a:xfrm>
          <a:prstGeom prst="roundRect">
            <a:avLst>
              <a:gd name="adj" fmla="val 6000"/>
            </a:avLst>
          </a:prstGeom>
          <a:solidFill>
            <a:srgbClr val="FA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57032" y="3429000"/>
            <a:ext cx="420624" cy="420624"/>
          </a:xfrm>
          <a:prstGeom prst="ellipse">
            <a:avLst/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35204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A8501B"/>
                </a:solidFill>
                <a:latin typeface="Calibri"/>
              </a:rPr>
              <a:t>DIABATIC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4114800"/>
            <a:ext cx="28346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 i="0">
                <a:solidFill>
                  <a:srgbClr val="1B2A33"/>
                </a:solidFill>
                <a:latin typeface="Calibri"/>
              </a:rPr>
              <a:t>Everything we cannot compute directly. This is the residual — and the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Convention: F = ½ D G/Dt, so every comparison is 2F against the measured tendency.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1295C"/>
                </a:solidFill>
                <a:latin typeface="Cambria"/>
              </a:rPr>
              <a:t>Why surface-only is enough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4358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37F"/>
                </a:solidFill>
                <a:latin typeface="Calibri"/>
              </a:rPr>
              <a:t>and the one place the discretisation takes it 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120640" cy="288036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10312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21284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65A82"/>
                </a:solidFill>
                <a:latin typeface="Calibri"/>
              </a:rPr>
              <a:t>IN THE CONTINUUM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4805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 i="0">
                <a:solidFill>
                  <a:srgbClr val="1B2A33"/>
                </a:solidFill>
                <a:latin typeface="Calibri"/>
              </a:rPr>
              <a:t>w vanishes identically along the surface, so its along-surface derivatives vanish too. The tilting term drops out exactly — there is no missing kinematic term.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605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65A82"/>
                </a:solidFill>
                <a:latin typeface="Calibri"/>
              </a:rPr>
              <a:t>Surface data is sufficient, not a compromise.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120640" cy="2880360"/>
          </a:xfrm>
          <a:prstGeom prst="roundRect">
            <a:avLst>
              <a:gd name="adj" fmla="val 6000"/>
            </a:avLst>
          </a:prstGeom>
          <a:solidFill>
            <a:srgbClr val="FA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83680" y="2103120"/>
            <a:ext cx="457200" cy="457200"/>
          </a:xfrm>
          <a:prstGeom prst="ellipse">
            <a:avLst/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212848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A8501B"/>
                </a:solidFill>
                <a:latin typeface="Calibri"/>
              </a:rPr>
              <a:t>IN THE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4805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 i="0">
                <a:solidFill>
                  <a:srgbClr val="1B2A33"/>
                </a:solidFill>
                <a:latin typeface="Calibri"/>
              </a:rPr>
              <a:t>k = 0 is a finite cell (~1 m), not the mathematical surface. Its budget carries the flux through the cell base, where w does not vanish.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1605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A8501B"/>
                </a:solidFill>
                <a:latin typeface="Calibri"/>
              </a:rPr>
              <a:t>~30% of F by day. ~0 at night.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7492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50" b="0" i="0">
                <a:solidFill>
                  <a:srgbClr val="62737F"/>
                </a:solidFill>
                <a:latin typeface="Calibri"/>
              </a:rPr>
              <a:t>Bounded in Phase 2 against the full-depth monterey_bay chunk store, which has 11 snapshots inside our window — rather than deferred and hoped about.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1295C"/>
                </a:solidFill>
                <a:latin typeface="Cambria"/>
              </a:rPr>
              <a:t>Half the study is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4358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37F"/>
                </a:solidFill>
                <a:latin typeface="Calibri"/>
              </a:rPr>
              <a:t>The predicted side exists, and is built well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945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065A82"/>
                </a:solidFill>
                <a:latin typeface="Calibri"/>
              </a:rPr>
              <a:t>ALREADY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743200"/>
            <a:ext cx="44805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1B2A33"/>
                </a:solidFill>
                <a:latin typeface="Calibri"/>
              </a:rPr>
              <a:t>•   Frontogenesis tendency F on the native grid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1B2A33"/>
                </a:solidFill>
                <a:latin typeface="Calibri"/>
              </a:rPr>
              <a:t>•   Metric-correct gradients and velocity Jacobian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1B2A33"/>
                </a:solidFill>
                <a:latin typeface="Calibri"/>
              </a:rPr>
              <a:t>•   Front detection (NaN-safe)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1B2A33"/>
                </a:solidFill>
                <a:latin typeface="Calibri"/>
              </a:rPr>
              <a:t>•   Front tracking across time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1B2A33"/>
                </a:solidFill>
                <a:latin typeface="Calibri"/>
              </a:rPr>
              <a:t>•   Per-front property statistics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1B2A33"/>
                </a:solidFill>
                <a:latin typeface="Calibri"/>
              </a:rPr>
              <a:t>•   Front-following cross-sections (curtains)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74519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19456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8FBFD0"/>
                </a:solidFill>
                <a:latin typeface="Calibri"/>
              </a:rPr>
              <a:t>THE NEW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743200"/>
            <a:ext cx="448056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 Measured D G/Dt from consecutive snapshots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 Semi-Lagrangian departure-point machinery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 Coarse-graining and subfilter flux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 Concat-to-zarr for a time series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 Discrete null-test harness</a:t>
            </a:r>
          </a:p>
          <a:p>
            <a:pPr algn="l">
              <a:lnSpc>
                <a:spcPct val="115000"/>
              </a:lnSpc>
              <a:spcAft>
                <a:spcPts val="11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•   Cross-front delta-b, width, peak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1">
                <a:solidFill>
                  <a:srgbClr val="62737F"/>
                </a:solidFill>
                <a:latin typeface="Calibri"/>
              </a:rPr>
              <a:t>Nobody has yet measured how fast the fronts actually sharpen. That is the whole gap.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4358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FBFD0"/>
                </a:solidFill>
                <a:latin typeface="Calibri"/>
              </a:rPr>
              <a:t>Tile 330 — the best-supported path in the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720²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8FBFD0"/>
                </a:solidFill>
                <a:latin typeface="Calibri"/>
              </a:rPr>
              <a:t>native cells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7889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8FBFD0"/>
                </a:solidFill>
                <a:latin typeface="Calibri"/>
              </a:rPr>
              <a:t>hourly steps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92024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~1.9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889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8FBFD0"/>
                </a:solidFill>
                <a:latin typeface="Calibri"/>
              </a:rPr>
              <a:t>grid spacing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920240"/>
            <a:ext cx="2468880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148840"/>
            <a:ext cx="2103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Cambria"/>
              </a:rPr>
              <a:t>0.9 GB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78892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8FBFD0"/>
                </a:solidFill>
                <a:latin typeface="Calibri"/>
              </a:rPr>
              <a:t>total volume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65760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8FBFD0"/>
                </a:solidFill>
                <a:latin typeface="Calibri"/>
              </a:rPr>
              <a:t>SOURCE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The public OSN store (anonymous, hourly, surface). Face 10; box ≈ 128–113°W, 26.7–38.2°N. A second OSN store supplies KPPhbl and wind stress over the same window.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3657600"/>
            <a:ext cx="51206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1" i="0">
                <a:solidFill>
                  <a:srgbClr val="8FBFD0"/>
                </a:solidFill>
                <a:latin typeface="Calibri"/>
              </a:rPr>
              <a:t>WINDOW  ·  2 – 4 JULY 2012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Calibri"/>
              </a:rPr>
              <a:t>Chosen, not defaulted: the full-depth chunk store holds a dense 3-hourly day on 3 July, so this window captures 11 of its 17 snapshots instead of 3. Free, and it makes the depth cross-check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1295C"/>
                </a:solidFill>
                <a:latin typeface="Cambria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4358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37F"/>
                </a:solidFill>
                <a:latin typeface="Calibri"/>
              </a:rPr>
              <a:t>Five commitments that make the comparison mean something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883664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828800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One operator, both sides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148840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2737F"/>
                </a:solidFill>
                <a:latin typeface="Calibri"/>
              </a:rPr>
              <a:t>Measured and predicted go through the same gradient stencil and the same filter. Different stencils manufacture a mismatch.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724912"/>
            <a:ext cx="402336" cy="40233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2670048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Semi-Lagrangian, not Eulerian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990088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2737F"/>
                </a:solidFill>
                <a:latin typeface="Calibri"/>
              </a:rPr>
              <a:t>A single well-conditioned difference along the trajectory, avoiding two large nearly-cancelling terms.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66160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3511296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Identical filtering of b, u and 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831335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2737F"/>
                </a:solidFill>
                <a:latin typeface="Calibri"/>
              </a:rPr>
              <a:t>Swept over four scales. Filtering changes the budget, so the sweep is reported as a curve, not a number.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407407"/>
            <a:ext cx="402336" cy="402336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4352544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Land masked before differencing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672583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2737F"/>
                </a:solidFill>
                <a:latin typeface="Calibri"/>
              </a:rPr>
              <a:t>Land is stored as zero; untreated, the coastline is the strongest 'front' in the domain.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248655"/>
            <a:ext cx="402336" cy="402336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5193792"/>
            <a:ext cx="9875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95C"/>
                </a:solidFill>
                <a:latin typeface="Calibri"/>
              </a:rPr>
              <a:t>Statistics ≥ 100 km offshore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513831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62737F"/>
                </a:solidFill>
                <a:latin typeface="Calibri"/>
              </a:rPr>
              <a:t>Cleanest signal, and reported stratified by distance so what we excluded stays visible.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1295C"/>
                </a:solidFill>
                <a:latin typeface="Cambria"/>
              </a:rPr>
              <a:t>The residual is not purely diabatic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4358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37F"/>
                </a:solidFill>
                <a:latin typeface="Calibri"/>
              </a:rPr>
              <a:t>The correction that most changes how we read the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1143000"/>
          </a:xfrm>
          <a:prstGeom prst="roundRect">
            <a:avLst>
              <a:gd name="adj" fmla="val 6000"/>
            </a:avLst>
          </a:prstGeom>
          <a:solidFill>
            <a:srgbClr val="FA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650" b="1" i="0">
                <a:solidFill>
                  <a:srgbClr val="A8501B"/>
                </a:solidFill>
                <a:latin typeface="Calibri"/>
              </a:rPr>
              <a:t>A regression slope of 0.5–0.8 is fully explicable by the model's own numerics — with zero air-sea flux.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00400"/>
            <a:ext cx="3383280" cy="214884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474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Numerical 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93192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LLC4320 has no explicit horizontal tracer diffusion. Its implicit dissipation switches on exactly at the grid-scale gradients that define our fronts — at 0.1–1 f, the same order as the strain.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3200400"/>
            <a:ext cx="3383280" cy="214884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3474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Finite-cell vertical term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93192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Reintroduced by the discretisation even though the continuum tilting term vanishes. ~30% of F by 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4424" y="3200400"/>
            <a:ext cx="3383280" cy="214884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3474720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1295C"/>
                </a:solidFill>
                <a:latin typeface="Calibri"/>
              </a:rPr>
              <a:t>Discrete operator bias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3931920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 b="0" i="0">
                <a:solidFill>
                  <a:srgbClr val="1B2A33"/>
                </a:solidFill>
                <a:latin typeface="Calibri"/>
              </a:rPr>
              <a:t>The chain rule fails at order unity for 4Δx features, and C-grid staggering attenuates G and F differently — a slope bias of 0.7–1.4 with no physics in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69280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95C"/>
                </a:solidFill>
                <a:latin typeface="Calibri"/>
              </a:rPr>
              <a:t>So “slope &lt; 1 = damping” is not a safe inference. Separating these is now part of the analysis, not a caveat.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1295C"/>
                </a:solidFill>
                <a:latin typeface="Cambria"/>
              </a:rPr>
              <a:t>Four gates before any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4358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37F"/>
                </a:solidFill>
                <a:latin typeface="Calibri"/>
              </a:rPr>
              <a:t>Operators must be known correct, not assumed correct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148839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3352" y="2240279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1295C"/>
                </a:solidFill>
                <a:latin typeface="Calibri"/>
              </a:rPr>
              <a:t>Cartesian scheme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807208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B2A33"/>
                </a:solidFill>
                <a:latin typeface="Calibri"/>
              </a:rPr>
              <a:t>Pure deformation, where |grad b|² grows exactly as exp(2αt). Validates the semi-Lagrangian scheme.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74519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19672" y="2148839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1" y="2240279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1295C"/>
                </a:solidFill>
                <a:latin typeface="Calibri"/>
              </a:rPr>
              <a:t>Native-grid metric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9672" y="2807208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B2A33"/>
                </a:solidFill>
                <a:latin typeface="Calibri"/>
              </a:rPr>
              <a:t>Analytic function of XC/YC with known gradients. Validates dxC, dyC, CS, SN handling.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9319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FA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" y="4206240"/>
            <a:ext cx="420624" cy="420624"/>
          </a:xfrm>
          <a:prstGeom prst="ellipse">
            <a:avLst/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429768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1295C"/>
                </a:solidFill>
                <a:latin typeface="Calibri"/>
              </a:rPr>
              <a:t>Discrete null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4864608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B2A33"/>
                </a:solidFill>
                <a:latin typeface="Calibri"/>
              </a:rPr>
              <a:t>Advect a synthetic tracer with our exact discrete operators. Requires slope = 1 ± 0.05 before real data is touched.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120640" cy="182880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19672" y="4206240"/>
            <a:ext cx="420624" cy="420624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4031" y="429768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1295C"/>
                </a:solidFill>
                <a:latin typeface="Calibri"/>
              </a:rPr>
              <a:t>Interpolation-bias 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9672" y="4864608"/>
            <a:ext cx="45262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50" b="0" i="0">
                <a:solidFill>
                  <a:srgbClr val="1B2A33"/>
                </a:solidFill>
                <a:latin typeface="Calibri"/>
              </a:rPr>
              <a:t>Uniform zero-strain flow, where the true tendency is identically zero. Whatever comes out is our bias.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807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0" i="1">
                <a:solidFill>
                  <a:srgbClr val="62737F"/>
                </a:solidFill>
                <a:latin typeface="Calibri"/>
              </a:rPr>
              <a:t>Gate 3 is the one that protects the headline number. Every later slope is quoted against its baseline, never against 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1295C"/>
                </a:solidFill>
                <a:latin typeface="Cambria"/>
              </a:rPr>
              <a:t>What we will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4358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2737F"/>
                </a:solidFill>
                <a:latin typeface="Calibri"/>
              </a:rPr>
              <a:t>Ten figures; these five carry the argument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2130552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517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Maps, side by side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Measured tendency beside 2F, shared scale, plus residual. If these do not look alike, nothing else matters.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874519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5152" y="2130552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6517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The joint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0175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Measured against 2F on front pixels, with the estimators shown against the null-test baseline.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4424" y="1874519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38744" y="2130552"/>
            <a:ext cx="384048" cy="384048"/>
          </a:xfrm>
          <a:prstGeom prst="ellipse">
            <a:avLst/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651760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Numerical vs diabatic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30175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Residual against high-order derivatives of b and against boundary-layer depth. The discriminator.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931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4187952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09159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Slope vs filter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749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Traces how much imbalance is unresolved-scale physics rather than damping.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93192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E7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45152" y="4187952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4709159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21295C"/>
                </a:solidFill>
                <a:latin typeface="Calibri"/>
              </a:rPr>
              <a:t>Strain alignment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5074920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 i="0">
                <a:solidFill>
                  <a:srgbClr val="62737F"/>
                </a:solidFill>
                <a:latin typeface="Calibri"/>
              </a:rPr>
              <a:t>Angle between grad b and the compressional axis — the classic independent physical check.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3931920"/>
            <a:ext cx="7013448" cy="1828800"/>
          </a:xfrm>
          <a:prstGeom prst="roundRect">
            <a:avLst>
              <a:gd name="adj" fmla="val 6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4315968"/>
            <a:ext cx="63093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Plus a tracked-front case study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50" b="0" i="0">
                <a:solidFill>
                  <a:srgbClr val="8FBFD0"/>
                </a:solidFill>
                <a:latin typeface="Calibri"/>
              </a:rPr>
              <a:t>One front followed hour by hour, its observed strength against the F-predicted curve — and population statistics over the ten largest fronts.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4358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FBFD0"/>
                </a:solidFill>
                <a:latin typeface="Calibri"/>
              </a:rPr>
              <a:t>Each becomes one execution prompt document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48840"/>
            <a:ext cx="1600200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M0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077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8FBFD0"/>
                </a:solidFill>
                <a:latin typeface="Calibri"/>
              </a:rPr>
              <a:t>Access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148840"/>
            <a:ext cx="1600200" cy="1371600"/>
          </a:xfrm>
          <a:prstGeom prst="roundRect">
            <a:avLst>
              <a:gd name="adj" fmla="val 6000"/>
            </a:avLst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37744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M1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29077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Operators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36118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8501B"/>
                </a:solidFill>
                <a:latin typeface="Calibri"/>
              </a:rPr>
              <a:t>GATE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148840"/>
            <a:ext cx="1600200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237744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9077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8FBFD0"/>
                </a:solidFill>
                <a:latin typeface="Calibri"/>
              </a:rPr>
              <a:t>Data pull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48840"/>
            <a:ext cx="1600200" cy="1371600"/>
          </a:xfrm>
          <a:prstGeom prst="roundRect">
            <a:avLst>
              <a:gd name="adj" fmla="val 6000"/>
            </a:avLst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237744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29077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Budget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79" y="361188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A8501B"/>
                </a:solidFill>
                <a:latin typeface="Calibri"/>
              </a:rPr>
              <a:t>GATE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2148840"/>
            <a:ext cx="1600200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237744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M4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9077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8FBFD0"/>
                </a:solidFill>
                <a:latin typeface="Calibri"/>
              </a:rPr>
              <a:t>Fronts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2148840"/>
            <a:ext cx="1600200" cy="13716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377440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M5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680" y="2907792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8FBFD0"/>
                </a:solidFill>
                <a:latin typeface="Calibri"/>
              </a:rPr>
              <a:t>Figures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0624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M1 — operators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8FBFD0"/>
                </a:solidFill>
                <a:latin typeface="Calibri"/>
              </a:rPr>
              <a:t>Does not pass until the discrete null test returns slope = 1 ± 0.05. On failure we fix the operators, not the interpretation.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20624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M3 — budget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 i="0">
                <a:solidFill>
                  <a:srgbClr val="8FBFD0"/>
                </a:solidFill>
                <a:latin typeface="Calibri"/>
              </a:rPr>
              <a:t>Exit criterion is budget closure, not a slope. No efficiency number is quoted before the terms balance to a stated tolerance.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7220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1">
                <a:solidFill>
                  <a:srgbClr val="62737F"/>
                </a:solidFill>
                <a:latin typeface="Calibri"/>
              </a:rPr>
              <a:t>M1 and M2 can run in parallel — the data pull needs no physics.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21295C"/>
                </a:solidFill>
                <a:latin typeface="Cambria"/>
              </a:rPr>
              <a:t>One open decision, and the honest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10607040" cy="1234440"/>
          </a:xfrm>
          <a:prstGeom prst="roundRect">
            <a:avLst>
              <a:gd name="adj" fmla="val 6000"/>
            </a:avLst>
          </a:prstGeom>
          <a:solidFill>
            <a:srgbClr val="FAE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43000" y="2084831"/>
            <a:ext cx="457200" cy="457200"/>
          </a:xfrm>
          <a:prstGeom prst="ellipse">
            <a:avLst/>
          </a:prstGeom>
          <a:solidFill>
            <a:srgbClr val="A85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9235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A8501B"/>
                </a:solidFill>
                <a:latin typeface="Calibri"/>
              </a:rPr>
              <a:t>Blocking: which branches do we work from?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50" b="0" i="0">
                <a:solidFill>
                  <a:srgbClr val="1B2A33"/>
                </a:solidFill>
                <a:latin typeface="Calibri"/>
              </a:rPr>
              <a:t>In fronts, the frontogenesis and viz_tools branches have diverged and both created the same files. In the preprocessing repo, the checked-out branch is 102 commits behind 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065A82"/>
                </a:solidFill>
                <a:latin typeface="Calibri"/>
              </a:rPr>
              <a:t>TOP RISKS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694175"/>
            <a:ext cx="256032" cy="25603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675887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2A33"/>
                </a:solidFill>
                <a:latin typeface="Calibri"/>
              </a:rPr>
              <a:t>Implicit numerical diffusion mimics diabatic damping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3694175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7F"/>
                </a:solidFill>
                <a:latin typeface="Calibri"/>
              </a:rPr>
              <a:t>at the same order as the strain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242815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4224527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2A33"/>
                </a:solidFill>
                <a:latin typeface="Calibri"/>
              </a:rPr>
              <a:t>Discrete operators bias the slope 0.7–1.4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4242815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7F"/>
                </a:solidFill>
                <a:latin typeface="Calibri"/>
              </a:rPr>
              <a:t>before any physics enters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791455"/>
            <a:ext cx="256032" cy="25603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73168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2A33"/>
                </a:solidFill>
                <a:latin typeface="Calibri"/>
              </a:rPr>
              <a:t>Semi-Lagrangian interpolation bias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791455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7F"/>
                </a:solidFill>
                <a:latin typeface="Calibri"/>
              </a:rPr>
              <a:t>25–80% of the signal, and signed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340095"/>
            <a:ext cx="256032" cy="25603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321807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2A33"/>
                </a:solidFill>
                <a:latin typeface="Calibri"/>
              </a:rPr>
              <a:t>72 hours cannot separate diurnal, inertial and 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5340095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7F"/>
                </a:solidFill>
                <a:latin typeface="Calibri"/>
              </a:rPr>
              <a:t>3, 3.6 and 5.8 cycles respectively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888736"/>
            <a:ext cx="256032" cy="256032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5870448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B2A33"/>
                </a:solidFill>
                <a:latin typeface="Calibri"/>
              </a:rPr>
              <a:t>The OSN code path has never been 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5888736"/>
            <a:ext cx="3794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2737F"/>
                </a:solidFill>
                <a:latin typeface="Calibri"/>
              </a:rPr>
              <a:t>no OSN test, no tile-find test, no NaN-input test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7548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mbria"/>
              </a:rPr>
              <a:t>What would make this a null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43584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8FBFD0"/>
                </a:solidFill>
                <a:latin typeface="Calibri"/>
              </a:rPr>
              <a:t>Stated now, so we recognise it rather than rationalise around it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03120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148839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residual is comparable to 2F at all filter scales and the budget does not close.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816352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862072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measured slope is indistinguishable from the discrete-null baseline.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529584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575303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residual tracks numerical diffusion rather than boundary-layer depth or the diurnal cycle.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242816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288536"/>
            <a:ext cx="9875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The discrete null test cannot be made to pass at 1 ± 0.05.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257800"/>
            <a:ext cx="10607040" cy="105156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5532120"/>
            <a:ext cx="9784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Then the conclusion is methodological, the limiting factor is named — and that is better than a slope of 0.6 presented as an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