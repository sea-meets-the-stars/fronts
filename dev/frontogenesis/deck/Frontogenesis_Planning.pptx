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949440" y="640080"/>
            <a:ext cx="4206240" cy="4206240"/>
          </a:xfrm>
          <a:prstGeom prst="ellipse">
            <a:avLst/>
          </a:prstGeom>
          <a:noFill/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2651760"/>
            <a:ext cx="2926080" cy="2926080"/>
          </a:xfrm>
          <a:prstGeom prst="ellipse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58200" y="4251959"/>
            <a:ext cx="1737360" cy="1737360"/>
          </a:xfrm>
          <a:prstGeom prst="ellipse">
            <a:avLst/>
          </a:prstGeom>
          <a:noFill/>
          <a:ln w="19050">
            <a:solidFill>
              <a:srgbClr val="8F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8FBFD0"/>
                </a:solidFill>
                <a:latin typeface="Calibri"/>
              </a:rPr>
              <a:t>LLC4320  ·  CALIFORNIA CURRENT  ·  SURFACE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7863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Frontogenesis in the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LLC4320 California Current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Measured front strengthening against the frontogenesis rate computed from the model's own velocity and buoyancy fields.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892040"/>
            <a:ext cx="914400" cy="50292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6519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96519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Planning summary  ·  2 October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6692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J. Xavier Prochaska  ·  HIINet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The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Two numbers that should agree — and the reasons they will not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5120640" cy="260604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938528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02996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4526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How much fronts actually sharpen, hour to hour, following the 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ourier New"/>
              </a:rPr>
              <a:t>DG/Dt  from snapshots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120640" cy="260604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79" y="1938528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79" y="202996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PREDICTED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2651760"/>
            <a:ext cx="4526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How much the strain field says they should sharpen, instantaneously.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370332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ourier New"/>
              </a:rPr>
              <a:t>2F  from u, v and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572000"/>
            <a:ext cx="10607040" cy="155448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800600"/>
            <a:ext cx="9784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These are not two guesses at one number.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0" i="0">
                <a:solidFill>
                  <a:srgbClr val="8FBFD0"/>
                </a:solidFill>
                <a:latin typeface="Calibri"/>
              </a:rPr>
              <a:t>They are the two sides of an exact budget — and the residual between them is the physical result.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One budget, three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The surface buoyancy-gradient budget, stated exactly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10607040" cy="86868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01952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ourier New"/>
              </a:rPr>
              <a:t>D/Dt (½G)  =  F  −  b_z (w_x b_x + w_y b_y)  +  ∇b · ∇B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10607040" cy="82296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907792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9809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KINEMATIC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8094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From u, v and b, with one shared operator on the native grid.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10607040" cy="82296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867911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941063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TILTING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941063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Cancels at the free surface: there w = Dη/Dt (the kinematic condition).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663440"/>
            <a:ext cx="10607040" cy="822960"/>
          </a:xfrm>
          <a:prstGeom prst="roundRect">
            <a:avLst>
              <a:gd name="adj" fmla="val 6000"/>
            </a:avLst>
          </a:prstGeom>
          <a:solidFill>
            <a:srgbClr val="FA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828031"/>
            <a:ext cx="502920" cy="502920"/>
          </a:xfrm>
          <a:prstGeom prst="ellipse">
            <a:avLst/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901183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A8501B"/>
                </a:solidFill>
                <a:latin typeface="Calibri"/>
              </a:rPr>
              <a:t>DIABATIC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901183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Air-sea fluxes and mixing — plus whatever the numerics 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71500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Convention: F = ½ DG/Dt, so every comparison is 2F against the measured tendency.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Why surface-only is enough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and the one place the discretisation takes it 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874519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659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IN THE CONTINUUM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06040"/>
            <a:ext cx="45262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At the free surface w = Dη/Dt, so the along-surface budget loses the tilting term exactly. No kinematic term is missing.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29768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Surface data is sufficient.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4592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A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79" y="1874519"/>
            <a:ext cx="502920" cy="502920"/>
          </a:xfrm>
          <a:prstGeom prst="ellipse">
            <a:avLst/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79" y="19659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A8501B"/>
                </a:solidFill>
                <a:latin typeface="Calibri"/>
              </a:rPr>
              <a:t>IN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2606040"/>
            <a:ext cx="45262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k = 0 is a fixed 1 m cell, not the surface. Its budget carries the flux through the cell base, where w does not cancel.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9768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A8501B"/>
                </a:solidFill>
                <a:latin typeface="Calibri"/>
              </a:rPr>
              <a:t>~30% of F by day, ~0 at night.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74920"/>
            <a:ext cx="10607040" cy="105156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230368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Now measured, not bounded: 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hourly full-depth chunks give b_z and the cell-base W at every step (Q13).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Half the study is already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The predicted side exists, and is built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74519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ALREADY EXISTS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23160"/>
            <a:ext cx="45720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F on the native grid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Metric-correct gradients, Jacobian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Front detection (NaN-safe)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Front tracking: follow()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Per-front property statistics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Front cross-sections (curtains)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4592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874519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8FBFD0"/>
                </a:solidFill>
                <a:latin typeface="Calibri"/>
              </a:rPr>
              <a:t>THE NEW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2423160"/>
            <a:ext cx="45720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•  Measured DG/Dt (semi-Lagrangian)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•  Coarse-graining, subfilter flux τ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•  Time series concatenated to zarr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•  Discrete null-test harness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•  Flow-informed front tracking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•  Vertical + surface-flux terms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1">
                <a:solidFill>
                  <a:srgbClr val="62737F"/>
                </a:solidFill>
                <a:latin typeface="Calibri"/>
              </a:rPr>
              <a:t>Nobody has yet measured how fast the fronts actually sharpen. That is the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Tile 330 (face 10), 2–4 July 2012, 72 consecutive hours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2468880" cy="132588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1051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720²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native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468880" cy="132588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1051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50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hourly steps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45920"/>
            <a:ext cx="2468880" cy="132588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81051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1.7–2.1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450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grid spacing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645920"/>
            <a:ext cx="2468880" cy="132588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81051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0.9 GB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450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surface fields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8FBFD0"/>
                </a:solidFill>
                <a:latin typeface="Calibri"/>
              </a:rPr>
              <a:t>THREE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490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OSN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Theta, Salt, U, V (+ W, Eta) — the primary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1596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OSN llc_wind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3159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KPPhbl (boundary-layer depth) and wind stress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88289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Hourly chunks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88289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k = 0–2 Theta, Salt, W; oceQnet, oceQsw, oceFWflx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53212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1">
                <a:solidFill>
                  <a:srgbClr val="8FBFD0"/>
                </a:solidFill>
                <a:latin typeface="Calibri"/>
              </a:rPr>
              <a:t>The chunks add budget terms, not primary fields — and OSN vs chunks is a free cross-check.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Five commitments that make the comparison mean something</a:t>
            </a:r>
          </a:p>
        </p:txBody>
      </p:sp>
      <p:sp>
        <p:nvSpPr>
          <p:cNvPr id="7" name="Oval 6"/>
          <p:cNvSpPr/>
          <p:nvPr/>
        </p:nvSpPr>
        <p:spPr>
          <a:xfrm>
            <a:off x="804672" y="1755648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459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One operator, both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2996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Same stencil, same filter for both — or we manufacture a mismatch.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624328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1460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Semi-Lagrangian, not Eulerian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89864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One difference along the trajectory; cubic b at the departure point.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" y="3493008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832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Identical filtering of b, u and 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6732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Swept over L = 0, 2, 4, 8 cells, with the subfilter flux τ computed.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361688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51959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Land masked before differencing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36007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OSN land is NaN; a 7-cell halo and a tile-edge margin on top.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" y="5230368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1206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Statistics ≥ 100 km 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50468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Also reported by distance, so what we excluded stays visible.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The residual is not purely diabatic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The correction that most changes how we read the result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10607040" cy="868680"/>
          </a:xfrm>
          <a:prstGeom prst="roundRect">
            <a:avLst>
              <a:gd name="adj" fmla="val 6000"/>
            </a:avLst>
          </a:prstGeom>
          <a:solidFill>
            <a:srgbClr val="FA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83664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A8501B"/>
                </a:solidFill>
                <a:latin typeface="Calibri"/>
              </a:rPr>
              <a:t>A slope of 0.5–0.8 at the grid scale is explicable by the model's numerics alone.</a:t>
            </a:r>
          </a:p>
        </p:txBody>
      </p:sp>
      <p:sp>
        <p:nvSpPr>
          <p:cNvPr id="9" name="Oval 8"/>
          <p:cNvSpPr/>
          <p:nvPr/>
        </p:nvSpPr>
        <p:spPr>
          <a:xfrm>
            <a:off x="804672" y="2834640"/>
            <a:ext cx="457200" cy="457200"/>
          </a:xfrm>
          <a:prstGeom prst="ellipse">
            <a:avLst/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Numerical 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2724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No explicit diffusion; OS7MP's implicit damping is ~0.1–0.5 f at 4Δx.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675887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58444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Finite-cell vertical term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68496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~30% of F by day — now measured from the hourly chunks.</a:t>
            </a:r>
          </a:p>
        </p:txBody>
      </p:sp>
      <p:sp>
        <p:nvSpPr>
          <p:cNvPr id="15" name="Oval 14"/>
          <p:cNvSpPr/>
          <p:nvPr/>
        </p:nvSpPr>
        <p:spPr>
          <a:xfrm>
            <a:off x="804672" y="45171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425696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Discrete operator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80974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Chain rule + C-grid interpolation: slope 0.7–1.4, no physics.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349240"/>
            <a:ext cx="10607040" cy="82296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440680"/>
            <a:ext cx="9966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With the vertical and surface-flux terms measured, the residual reduces to numerical diffusion + interior KPP.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Four gates before any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Operators must be known correct, not assumed correct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8992" y="1874519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4792" y="19476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Cartesian scheme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42032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Pure deformation: G grows exactly as exp(2αt).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19672" y="1874519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19476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Native-grid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42032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An analytic field of XC, YC with known gradients.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1188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A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8992" y="3840480"/>
            <a:ext cx="502920" cy="502920"/>
          </a:xfrm>
          <a:prstGeom prst="ellipse">
            <a:avLst/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64792" y="391363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Discrete null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4507992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Our exact operators on a synthetic tracer: slope = 1 ± 0.05.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61188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19672" y="3840480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391363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Interpolation 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507992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Uniform zero-strain flow: the truth is 0, so out comes the bias.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1">
                <a:solidFill>
                  <a:srgbClr val="62737F"/>
                </a:solidFill>
                <a:latin typeface="Calibri"/>
              </a:rPr>
              <a:t>Gate 3 protects the headline: every slope is quoted against its baseline, never against 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What we will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Ten main figures and six validation figures; these six carry the argument</a:t>
            </a:r>
          </a:p>
        </p:txBody>
      </p:sp>
      <p:sp>
        <p:nvSpPr>
          <p:cNvPr id="7" name="Oval 6"/>
          <p:cNvSpPr/>
          <p:nvPr/>
        </p:nvSpPr>
        <p:spPr>
          <a:xfrm>
            <a:off x="804672" y="16002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733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Maps side by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68249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measured beside 2F, shared scale, plus residual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2860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591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Joint 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36829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measured vs 2F, null baseline drawn on it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" y="2971800"/>
            <a:ext cx="502920" cy="502920"/>
          </a:xfrm>
          <a:prstGeom prst="ellipse">
            <a:avLst/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449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Numerical vs diabatic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5409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residual vs ∇⁴b and vs KPPhbl (2b)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36576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7307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Slope vs filter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73989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and the τ sweep shown panel by panel (3b)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" y="43434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4165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Strain alignment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42569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∇b vs the compressional axis</a:t>
            </a:r>
          </a:p>
        </p:txBody>
      </p:sp>
      <p:sp>
        <p:nvSpPr>
          <p:cNvPr id="22" name="Oval 21"/>
          <p:cNvSpPr/>
          <p:nvPr/>
        </p:nvSpPr>
        <p:spPr>
          <a:xfrm>
            <a:off x="804672" y="5029200"/>
            <a:ext cx="502920" cy="502920"/>
          </a:xfrm>
          <a:prstGeom prst="ellipse">
            <a:avLst/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1023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21295C"/>
                </a:solidFill>
                <a:latin typeface="Calibri"/>
              </a:rPr>
              <a:t>Term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111496"/>
            <a:ext cx="6263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2F, vertical, surface flux, τ, residual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1">
                <a:solidFill>
                  <a:srgbClr val="62737F"/>
                </a:solidFill>
                <a:latin typeface="Calibri"/>
              </a:rPr>
              <a:t>Then the fronts: one tracked front, hour by hour, and the 10 largest as a population.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Tracking a front from one hour to the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Flow-informed follow() — planning §5.7, decision Q14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5029200" cy="338328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0520000">
            <a:off x="1005840" y="2532888"/>
            <a:ext cx="2103120" cy="329184"/>
          </a:xfrm>
          <a:prstGeom prst="ellipse">
            <a:avLst/>
          </a:prstGeom>
          <a:solidFill>
            <a:srgbClr val="8F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C7293"/>
                </a:solidFill>
                <a:latin typeface="Calibri"/>
              </a:rPr>
              <a:t>front A at t</a:t>
            </a:r>
          </a:p>
        </p:txBody>
      </p:sp>
      <p:sp>
        <p:nvSpPr>
          <p:cNvPr id="10" name="Right Arrow 9"/>
          <p:cNvSpPr/>
          <p:nvPr/>
        </p:nvSpPr>
        <p:spPr>
          <a:xfrm rot="2100000">
            <a:off x="2880360" y="2926080"/>
            <a:ext cx="868680" cy="329184"/>
          </a:xfrm>
          <a:prstGeom prst="rightArrow">
            <a:avLst/>
          </a:prstGeom>
          <a:solidFill>
            <a:srgbClr val="627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5146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62737F"/>
                </a:solidFill>
                <a:latin typeface="Courier New"/>
              </a:rPr>
              <a:t>u, v</a:t>
            </a:r>
          </a:p>
        </p:txBody>
      </p:sp>
      <p:sp>
        <p:nvSpPr>
          <p:cNvPr id="12" name="Oval 11"/>
          <p:cNvSpPr/>
          <p:nvPr/>
        </p:nvSpPr>
        <p:spPr>
          <a:xfrm rot="20760000">
            <a:off x="3086100" y="3547872"/>
            <a:ext cx="1965960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20520000">
            <a:off x="2903220" y="3429000"/>
            <a:ext cx="2148840" cy="457200"/>
          </a:xfrm>
          <a:prstGeom prst="ellipse">
            <a:avLst/>
          </a:prstGeom>
          <a:noFill/>
          <a:ln w="28575">
            <a:solidFill>
              <a:srgbClr val="A8501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20520000">
            <a:off x="1005840" y="3657600"/>
            <a:ext cx="1554480" cy="274320"/>
          </a:xfrm>
          <a:prstGeom prst="ellipse">
            <a:avLst/>
          </a:prstGeom>
          <a:solidFill>
            <a:srgbClr val="A9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4114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A at t+1: link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1148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62737F"/>
                </a:solidFill>
                <a:latin typeface="Calibri"/>
              </a:rPr>
              <a:t>B: nearer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26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A8501B"/>
                </a:solidFill>
                <a:latin typeface="Calibri"/>
              </a:rPr>
              <a:t>dashed: A's mask moved by the flow</a:t>
            </a:r>
          </a:p>
        </p:txBody>
      </p:sp>
      <p:sp>
        <p:nvSpPr>
          <p:cNvPr id="18" name="Oval 17"/>
          <p:cNvSpPr/>
          <p:nvPr/>
        </p:nvSpPr>
        <p:spPr>
          <a:xfrm>
            <a:off x="6080760" y="1664208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645920"/>
            <a:ext cx="47091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Find and label fronts at t and at t+1, independently.</a:t>
            </a:r>
          </a:p>
        </p:txBody>
      </p:sp>
      <p:sp>
        <p:nvSpPr>
          <p:cNvPr id="20" name="Oval 19"/>
          <p:cNvSpPr/>
          <p:nvPr/>
        </p:nvSpPr>
        <p:spPr>
          <a:xfrm>
            <a:off x="6080760" y="2432304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414016"/>
            <a:ext cx="47091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Advect A's boolean mask with u, v (semilag); threshold at 0.5.</a:t>
            </a:r>
          </a:p>
        </p:txBody>
      </p:sp>
      <p:sp>
        <p:nvSpPr>
          <p:cNvPr id="22" name="Oval 21"/>
          <p:cNvSpPr/>
          <p:nvPr/>
        </p:nvSpPr>
        <p:spPr>
          <a:xfrm>
            <a:off x="6080760" y="320040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82112"/>
            <a:ext cx="47091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Score each candidate: follow()'s position, overlap, length, area and orientation, plus IoU with the predicted mask.</a:t>
            </a:r>
          </a:p>
        </p:txBody>
      </p:sp>
      <p:sp>
        <p:nvSpPr>
          <p:cNvPr id="24" name="Oval 23"/>
          <p:cNvSpPr/>
          <p:nvPr/>
        </p:nvSpPr>
        <p:spPr>
          <a:xfrm>
            <a:off x="6080760" y="4270248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251960"/>
            <a:ext cx="47091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Best score ≤ 2.5 is the link; none passes → a gap, not a guess.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16636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2578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Why: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a wrong link breaks the material derivative, so the budget is compared on the advected pixel set. Overlap with two fronts flags a split or merge.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Milestones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Each has its own execution prompt document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645920" cy="132588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470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M0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Access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1691640"/>
            <a:ext cx="1645920" cy="1325880"/>
          </a:xfrm>
          <a:prstGeom prst="roundRect">
            <a:avLst>
              <a:gd name="adj" fmla="val 6000"/>
            </a:avLst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8470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Operators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12724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A8501B"/>
                </a:solidFill>
                <a:latin typeface="Calibri"/>
              </a:rPr>
              <a:t>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691640"/>
            <a:ext cx="1645920" cy="132588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8470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Data pull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91640"/>
            <a:ext cx="1645920" cy="1325880"/>
          </a:xfrm>
          <a:prstGeom prst="roundRect">
            <a:avLst>
              <a:gd name="adj" fmla="val 6000"/>
            </a:avLst>
          </a:prstGeom>
          <a:solidFill>
            <a:srgbClr val="A850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8470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312724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A8501B"/>
                </a:solidFill>
                <a:latin typeface="Calibri"/>
              </a:rPr>
              <a:t>GATE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691640"/>
            <a:ext cx="1645920" cy="132588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8470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Fronts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21240" y="1691640"/>
            <a:ext cx="1645920" cy="132588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18470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M5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Figures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5760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M1 — operators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Passes only when the discrete null gives slope = 1 ± 0.05. On failure we fix the operators, not the interpretation.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65760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M3 — budget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Exit is budget closure, not a slope: no efficiency is quoted until the terms balance to a stated tolerance.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0" i="1">
                <a:solidFill>
                  <a:srgbClr val="8FBFD0"/>
                </a:solidFill>
                <a:latin typeface="Calibri"/>
              </a:rPr>
              <a:t>M1 and M2 can run in parallel — the data pull needs no physics.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The honest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and the one decision that was open in v1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10607040" cy="96012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37360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Resolved: which branches to work from (Q15).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A four-step merge sequence; the work is not blocked on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TOP RISKS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355848"/>
            <a:ext cx="256032" cy="2560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29184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B2A33"/>
                </a:solidFill>
                <a:latin typeface="Calibri"/>
              </a:rPr>
              <a:t>Numerical diffusion mimics diabatic damping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29184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same order as the strain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922776"/>
            <a:ext cx="256032" cy="25603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858768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B2A33"/>
                </a:solidFill>
                <a:latin typeface="Calibri"/>
              </a:rPr>
              <a:t>Discrete operators bias the slope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85876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0.7–1.4, no physics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9704"/>
            <a:ext cx="256032" cy="2560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42569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B2A33"/>
                </a:solidFill>
                <a:latin typeface="Calibri"/>
              </a:rPr>
              <a:t>Semi-Lagrangian interpolation bias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42569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25–80% of the signal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5056632"/>
            <a:ext cx="256032" cy="25603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499262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B2A33"/>
                </a:solidFill>
                <a:latin typeface="Calibri"/>
              </a:rPr>
              <a:t>72 h cannot separate K1, M2 and inertial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992624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3, 5.8 and 3.6 cycles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623560"/>
            <a:ext cx="256032" cy="2560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555955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B2A33"/>
                </a:solidFill>
                <a:latin typeface="Calibri"/>
              </a:rPr>
              <a:t>Tracking links to the wrong 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5559552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flow-informed follow()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What would make this a null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8FBFD0"/>
                </a:solidFill>
                <a:latin typeface="Calibri"/>
              </a:rPr>
              <a:t>Stated now, so we recognise it rather than rationalise around it</a:t>
            </a:r>
          </a:p>
        </p:txBody>
      </p:sp>
      <p:sp>
        <p:nvSpPr>
          <p:cNvPr id="7" name="Oval 6"/>
          <p:cNvSpPr/>
          <p:nvPr/>
        </p:nvSpPr>
        <p:spPr>
          <a:xfrm>
            <a:off x="804672" y="169164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6479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Calibri"/>
              </a:rPr>
              <a:t>The budget does not close at any filter scale.</a:t>
            </a:r>
          </a:p>
        </p:txBody>
      </p:sp>
      <p:sp>
        <p:nvSpPr>
          <p:cNvPr id="9" name="Oval 8"/>
          <p:cNvSpPr/>
          <p:nvPr/>
        </p:nvSpPr>
        <p:spPr>
          <a:xfrm>
            <a:off x="804672" y="246888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4203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Calibri"/>
              </a:rPr>
              <a:t>The slope is indistinguishable from the discrete-null baseline.</a:t>
            </a:r>
          </a:p>
        </p:txBody>
      </p:sp>
      <p:sp>
        <p:nvSpPr>
          <p:cNvPr id="11" name="Oval 10"/>
          <p:cNvSpPr/>
          <p:nvPr/>
        </p:nvSpPr>
        <p:spPr>
          <a:xfrm>
            <a:off x="804672" y="324612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31927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Calibri"/>
              </a:rPr>
              <a:t>The residual tracks ∇⁴b (numerics), not KPPhbl or the diurnal cycle.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" y="402336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09651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Calibri"/>
              </a:rPr>
              <a:t>The discrete null test cannot be made to pass at 1 ± 0.05.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07492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Then the conclusion is methodological, the limiting factor is named — and that beats a slope of 0.6 presented as an efficiency.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Glossary — the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2412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Notation as on the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527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Front, frontogenesis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a narrow band of strong ∇b; frontogenesis is its sharpening (G rising).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b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buoyancy, g σ₀/ρ₀ from surface Theta and Salt (JMD95, the model's own EOS).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G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front strength, |∇b|² = b_x² + b_y².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F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kinematic frontogenesis rate from u, v and b; F = ½ DG/Dt with no mixing.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DG/Dt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measured tendency: the change in G following a parcel over one hour.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Residual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measured DG/Dt − 2F: numerics, mixing and forcing together.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Tilting term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−b_z (w_x b_x + w_y b_y); zero at the surface, back in the 1 m top cell.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Diabatic, B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buoyancy sources: air-sea heat and freshwater fluxes, KPP mixing.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Strain, θ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deformation of the flow; θ is the angle of ∇b to its compressional axis.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Glossary — the method and 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527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Semi-Lagrangian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difference G along a parcel, from its departure point an hour earlier.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Front pixels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cells with G above a set percentile at the midpoint time, inside the mask.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Filter scale L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b, u and v smoothed identically over L cells (0, 2, 4, 8).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Subfilter flux τ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buoyancy flux carried by scales below L; computed, not assumed.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Discrete null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a synthetic test with known slope 1; its fitted value is the baseline.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OS7MP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LLC4320's tracer advection; its implicit diffusion is the rival signal.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KPP, KPPhbl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model's mixing scheme and its boundary-layer depth.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follow(), IoU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the repo's front tracker; IoU = overlap ÷ union of two masks.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Advected pixel set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a front's pixels at t carried by the flow to t+1: same water, both hours.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Tile 330, OSN, chunks  </a:t>
            </a:r>
            <a:r>
              <a:rPr sz="2000" b="0" i="0">
                <a:solidFill>
                  <a:srgbClr val="1B2A33"/>
                </a:solidFill>
                <a:latin typeface="Calibri"/>
              </a:rPr>
              <a:t>our 720² window; the public surface store; the full-depth store.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Frontogenesis planning  · 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55480" y="63825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62737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1295C"/>
                </a:solidFill>
                <a:latin typeface="Cambria"/>
              </a:rPr>
              <a:t>Version history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10607040" cy="100584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v1  ·  19 Sep 2026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13 slides, from the planning doc as of planning prompt 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10607040" cy="3703320"/>
          </a:xfrm>
          <a:prstGeom prst="roundRect">
            <a:avLst>
              <a:gd name="adj" fmla="val 6000"/>
            </a:avLst>
          </a:prstGeom>
          <a:solidFill>
            <a:srgbClr val="E7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0058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 i="0">
                <a:solidFill>
                  <a:srgbClr val="065A82"/>
                </a:solidFill>
                <a:latin typeface="Calibri"/>
              </a:rPr>
              <a:t>v2  ·  2 Oct 2026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No text below 20 pt; a glossary; a tracking slide; a version number.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21295C"/>
                </a:solidFill>
                <a:latin typeface="Calibri"/>
              </a:rPr>
              <a:t>Also brought into line with the planning doc as corrected since v1: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surface w is Dη/Dt, not zero — the tilting term still cancels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the top-cell vertical term is measured (hourly chunks), not bounded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OSN land is NaN, not zero; surface fluxes come from the chunks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numerical damping ~0.1–0.5 f at 4Δx (was 0.1–1 f)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 i="0">
                <a:solidFill>
                  <a:srgbClr val="1B2A33"/>
                </a:solidFill>
                <a:latin typeface="Calibri"/>
              </a:rPr>
              <a:t>•  the branch decision is resolved (Q15)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